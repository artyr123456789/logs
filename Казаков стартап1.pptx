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92" r:id="rId2"/>
    <p:sldId id="279" r:id="rId3"/>
    <p:sldId id="286" r:id="rId4"/>
    <p:sldId id="287" r:id="rId5"/>
    <p:sldId id="288" r:id="rId6"/>
    <p:sldId id="291" r:id="rId7"/>
    <p:sldId id="293" r:id="rId8"/>
    <p:sldId id="290" r:id="rId9"/>
    <p:sldId id="294" r:id="rId10"/>
    <p:sldId id="260" r:id="rId11"/>
  </p:sldIdLst>
  <p:sldSz cx="12192000" cy="6858000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271"/>
    <a:srgbClr val="FCAF17"/>
    <a:srgbClr val="FD493D"/>
    <a:srgbClr val="FBB3C1"/>
    <a:srgbClr val="8F00FF"/>
    <a:srgbClr val="FFDC40"/>
    <a:srgbClr val="FFA509"/>
    <a:srgbClr val="B5D8E1"/>
    <a:srgbClr val="9F00FF"/>
    <a:srgbClr val="ADDA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11" autoAdjust="0"/>
    <p:restoredTop sz="94685" autoAdjust="0"/>
  </p:normalViewPr>
  <p:slideViewPr>
    <p:cSldViewPr>
      <p:cViewPr varScale="1">
        <p:scale>
          <a:sx n="61" d="100"/>
          <a:sy n="61" d="100"/>
        </p:scale>
        <p:origin x="108" y="5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E02CED-5717-4A05-AC1A-4287C517E4E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96A664D-0137-45B8-8EB2-1EB0425077C9}">
      <dgm:prSet phldrT="[Текст]" custT="1"/>
      <dgm:spPr/>
      <dgm:t>
        <a:bodyPr/>
        <a:lstStyle/>
        <a:p>
          <a:r>
            <a:rPr lang="ru-RU" sz="1800" dirty="0" smtClean="0"/>
            <a:t>В дальнейшем планируется создание модели </a:t>
          </a:r>
          <a:r>
            <a:rPr lang="ru-RU" sz="1800" dirty="0" err="1" smtClean="0"/>
            <a:t>нейросети</a:t>
          </a:r>
          <a:r>
            <a:rPr lang="ru-RU" sz="1800" dirty="0" smtClean="0"/>
            <a:t> для прогнозирования использованных компонентов и их пропорций по необходимым свойствам конечного продукта. А также предложения аналогичных рецептов-заменителей исходя из стоимости производственных компонентов. </a:t>
          </a:r>
          <a:br>
            <a:rPr lang="ru-RU" sz="1800" dirty="0" smtClean="0"/>
          </a:br>
          <a:r>
            <a:rPr lang="ru-RU" sz="1800" dirty="0" smtClean="0"/>
            <a:t>Готовая модель также может быть легко переобучена для работы с другими полимерами и композитами</a:t>
          </a:r>
          <a:r>
            <a:rPr lang="ru-RU" sz="1400" dirty="0" smtClean="0"/>
            <a:t>.</a:t>
          </a:r>
          <a:r>
            <a:rPr lang="ru-RU" sz="500" dirty="0" smtClean="0"/>
            <a:t/>
          </a:r>
          <a:br>
            <a:rPr lang="ru-RU" sz="500" dirty="0" smtClean="0"/>
          </a:br>
          <a:endParaRPr lang="ru-RU" sz="500" dirty="0"/>
        </a:p>
      </dgm:t>
    </dgm:pt>
    <dgm:pt modelId="{4D21BD42-DFDC-4764-A41E-AE9D6C2599BA}" type="parTrans" cxnId="{CD7C344B-FA1A-4FB5-B2A3-147146178E9B}">
      <dgm:prSet/>
      <dgm:spPr/>
      <dgm:t>
        <a:bodyPr/>
        <a:lstStyle/>
        <a:p>
          <a:endParaRPr lang="ru-RU"/>
        </a:p>
      </dgm:t>
    </dgm:pt>
    <dgm:pt modelId="{63677EA4-B507-4D98-99E0-A51343430609}" type="sibTrans" cxnId="{CD7C344B-FA1A-4FB5-B2A3-147146178E9B}">
      <dgm:prSet/>
      <dgm:spPr/>
      <dgm:t>
        <a:bodyPr/>
        <a:lstStyle/>
        <a:p>
          <a:endParaRPr lang="ru-RU"/>
        </a:p>
      </dgm:t>
    </dgm:pt>
    <dgm:pt modelId="{07758F33-9EFE-4909-A8D7-73807B3301C5}">
      <dgm:prSet phldrT="[Текст]" custT="1"/>
      <dgm:spPr/>
      <dgm:t>
        <a:bodyPr/>
        <a:lstStyle/>
        <a:p>
          <a:r>
            <a:rPr lang="ru-RU" sz="1800" dirty="0" smtClean="0"/>
            <a:t>Данная разработка позволит стране занять технологическое лидерство в области применения нейронных сетей в цифровой химии. А также ускорит все исследования и разработки данной области, что также будет способствовать выходу большего количества российской продукции на зарубежный рынок.</a:t>
          </a:r>
          <a:endParaRPr lang="ru-RU" sz="1800" dirty="0"/>
        </a:p>
      </dgm:t>
    </dgm:pt>
    <dgm:pt modelId="{A21F12D0-1BEE-4BD6-A72E-4567B2364D48}" type="parTrans" cxnId="{917F16C1-A28C-480B-866C-9FD853E6AE99}">
      <dgm:prSet/>
      <dgm:spPr/>
      <dgm:t>
        <a:bodyPr/>
        <a:lstStyle/>
        <a:p>
          <a:endParaRPr lang="ru-RU"/>
        </a:p>
      </dgm:t>
    </dgm:pt>
    <dgm:pt modelId="{D2BF80D6-1B94-49FC-AEDF-CCB021EB225D}" type="sibTrans" cxnId="{917F16C1-A28C-480B-866C-9FD853E6AE99}">
      <dgm:prSet/>
      <dgm:spPr/>
      <dgm:t>
        <a:bodyPr/>
        <a:lstStyle/>
        <a:p>
          <a:endParaRPr lang="ru-RU"/>
        </a:p>
      </dgm:t>
    </dgm:pt>
    <dgm:pt modelId="{A0BF6AE3-868C-42CA-88FA-18754A358212}">
      <dgm:prSet phldrT="[Текст]" custT="1"/>
      <dgm:spPr/>
      <dgm:t>
        <a:bodyPr/>
        <a:lstStyle/>
        <a:p>
          <a:r>
            <a:rPr lang="ru-RU" sz="1800" dirty="0" smtClean="0"/>
            <a:t>Однако создание будет возможно лишь при полной поддержке и финансировании проекта, увеличения числа разработчиков и широком внедрением в деятельность исследовательских лабораторий, технопарков и промышленных предприятий.</a:t>
          </a:r>
          <a:endParaRPr lang="ru-RU" sz="1400" dirty="0"/>
        </a:p>
      </dgm:t>
    </dgm:pt>
    <dgm:pt modelId="{EB907C55-A043-4379-AE05-169B710BF933}" type="parTrans" cxnId="{F0DE2CDC-C9F3-4D4D-8CE8-6523C595DC03}">
      <dgm:prSet/>
      <dgm:spPr/>
      <dgm:t>
        <a:bodyPr/>
        <a:lstStyle/>
        <a:p>
          <a:endParaRPr lang="ru-RU"/>
        </a:p>
      </dgm:t>
    </dgm:pt>
    <dgm:pt modelId="{62CD8C5A-82C3-4DE2-94C8-6ED78F2BB26B}" type="sibTrans" cxnId="{F0DE2CDC-C9F3-4D4D-8CE8-6523C595DC03}">
      <dgm:prSet/>
      <dgm:spPr/>
      <dgm:t>
        <a:bodyPr/>
        <a:lstStyle/>
        <a:p>
          <a:endParaRPr lang="ru-RU"/>
        </a:p>
      </dgm:t>
    </dgm:pt>
    <dgm:pt modelId="{8E9973FF-ACC0-4704-9A74-4EBC59AEFEF4}" type="pres">
      <dgm:prSet presAssocID="{77E02CED-5717-4A05-AC1A-4287C517E4EB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4AFF088-AA9C-41D1-9F89-B279470F56CD}" type="pres">
      <dgm:prSet presAssocID="{096A664D-0137-45B8-8EB2-1EB0425077C9}" presName="parentLin" presStyleCnt="0"/>
      <dgm:spPr/>
    </dgm:pt>
    <dgm:pt modelId="{32E764CF-F4F3-4DAF-8CF7-5AAD33E5CE3B}" type="pres">
      <dgm:prSet presAssocID="{096A664D-0137-45B8-8EB2-1EB0425077C9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241E7F71-EAAE-4290-8F3C-9AF75094CDDD}" type="pres">
      <dgm:prSet presAssocID="{096A664D-0137-45B8-8EB2-1EB0425077C9}" presName="parentText" presStyleLbl="node1" presStyleIdx="0" presStyleCnt="3" custScaleY="559099" custLinFactNeighborX="-761" custLinFactNeighborY="-6391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7E61ACE-6160-4808-95A1-B9DB5B92FB55}" type="pres">
      <dgm:prSet presAssocID="{096A664D-0137-45B8-8EB2-1EB0425077C9}" presName="negativeSpace" presStyleCnt="0"/>
      <dgm:spPr/>
    </dgm:pt>
    <dgm:pt modelId="{C88B7223-E2AD-4978-AE52-C911B3E652DA}" type="pres">
      <dgm:prSet presAssocID="{096A664D-0137-45B8-8EB2-1EB0425077C9}" presName="childText" presStyleLbl="conFgAcc1" presStyleIdx="0" presStyleCnt="3">
        <dgm:presLayoutVars>
          <dgm:bulletEnabled val="1"/>
        </dgm:presLayoutVars>
      </dgm:prSet>
      <dgm:spPr/>
    </dgm:pt>
    <dgm:pt modelId="{F541FF4A-AF8A-4183-8119-378923CEF6A8}" type="pres">
      <dgm:prSet presAssocID="{63677EA4-B507-4D98-99E0-A51343430609}" presName="spaceBetweenRectangles" presStyleCnt="0"/>
      <dgm:spPr/>
    </dgm:pt>
    <dgm:pt modelId="{EC6572DF-2A35-42E0-BD01-50D83F3CBD9E}" type="pres">
      <dgm:prSet presAssocID="{07758F33-9EFE-4909-A8D7-73807B3301C5}" presName="parentLin" presStyleCnt="0"/>
      <dgm:spPr/>
    </dgm:pt>
    <dgm:pt modelId="{0B78792E-D565-4F3D-A44A-34A8138FBB70}" type="pres">
      <dgm:prSet presAssocID="{07758F33-9EFE-4909-A8D7-73807B3301C5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0EB1CE87-B9FB-4059-B41E-59BF76B45CEB}" type="pres">
      <dgm:prSet presAssocID="{07758F33-9EFE-4909-A8D7-73807B3301C5}" presName="parentText" presStyleLbl="node1" presStyleIdx="1" presStyleCnt="3" custScaleY="52725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3A0F370-080F-49B7-BB20-9E86AEEB51F8}" type="pres">
      <dgm:prSet presAssocID="{07758F33-9EFE-4909-A8D7-73807B3301C5}" presName="negativeSpace" presStyleCnt="0"/>
      <dgm:spPr/>
    </dgm:pt>
    <dgm:pt modelId="{14267EEC-4CD5-471A-BA5E-D584B2CA5D2F}" type="pres">
      <dgm:prSet presAssocID="{07758F33-9EFE-4909-A8D7-73807B3301C5}" presName="childText" presStyleLbl="conFgAcc1" presStyleIdx="1" presStyleCnt="3">
        <dgm:presLayoutVars>
          <dgm:bulletEnabled val="1"/>
        </dgm:presLayoutVars>
      </dgm:prSet>
      <dgm:spPr/>
    </dgm:pt>
    <dgm:pt modelId="{1E969A88-B583-4C1C-87D7-32D2B037B0A1}" type="pres">
      <dgm:prSet presAssocID="{D2BF80D6-1B94-49FC-AEDF-CCB021EB225D}" presName="spaceBetweenRectangles" presStyleCnt="0"/>
      <dgm:spPr/>
    </dgm:pt>
    <dgm:pt modelId="{6AA62ABA-DD45-478B-8B17-616227F7685E}" type="pres">
      <dgm:prSet presAssocID="{A0BF6AE3-868C-42CA-88FA-18754A358212}" presName="parentLin" presStyleCnt="0"/>
      <dgm:spPr/>
    </dgm:pt>
    <dgm:pt modelId="{D7CA4264-5190-4D2C-9996-945E7F300AE6}" type="pres">
      <dgm:prSet presAssocID="{A0BF6AE3-868C-42CA-88FA-18754A358212}" presName="parentLeftMargin" presStyleLbl="node1" presStyleIdx="1" presStyleCnt="3"/>
      <dgm:spPr/>
      <dgm:t>
        <a:bodyPr/>
        <a:lstStyle/>
        <a:p>
          <a:endParaRPr lang="ru-RU"/>
        </a:p>
      </dgm:t>
    </dgm:pt>
    <dgm:pt modelId="{8C835775-11DC-49C6-B11E-A7B879EF39A9}" type="pres">
      <dgm:prSet presAssocID="{A0BF6AE3-868C-42CA-88FA-18754A358212}" presName="parentText" presStyleLbl="node1" presStyleIdx="2" presStyleCnt="3" custScaleY="41793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EDA177F-F445-43C6-81C0-AECCA6097D51}" type="pres">
      <dgm:prSet presAssocID="{A0BF6AE3-868C-42CA-88FA-18754A358212}" presName="negativeSpace" presStyleCnt="0"/>
      <dgm:spPr/>
    </dgm:pt>
    <dgm:pt modelId="{67FE6D4E-5B27-4404-B2B6-2BB0FE9E0059}" type="pres">
      <dgm:prSet presAssocID="{A0BF6AE3-868C-42CA-88FA-18754A358212}" presName="childText" presStyleLbl="conFg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077649D-E7BE-4D78-A535-2DBB5B7BCDBC}" type="presOf" srcId="{07758F33-9EFE-4909-A8D7-73807B3301C5}" destId="{0EB1CE87-B9FB-4059-B41E-59BF76B45CEB}" srcOrd="1" destOrd="0" presId="urn:microsoft.com/office/officeart/2005/8/layout/list1"/>
    <dgm:cxn modelId="{F0DE2CDC-C9F3-4D4D-8CE8-6523C595DC03}" srcId="{77E02CED-5717-4A05-AC1A-4287C517E4EB}" destId="{A0BF6AE3-868C-42CA-88FA-18754A358212}" srcOrd="2" destOrd="0" parTransId="{EB907C55-A043-4379-AE05-169B710BF933}" sibTransId="{62CD8C5A-82C3-4DE2-94C8-6ED78F2BB26B}"/>
    <dgm:cxn modelId="{917F16C1-A28C-480B-866C-9FD853E6AE99}" srcId="{77E02CED-5717-4A05-AC1A-4287C517E4EB}" destId="{07758F33-9EFE-4909-A8D7-73807B3301C5}" srcOrd="1" destOrd="0" parTransId="{A21F12D0-1BEE-4BD6-A72E-4567B2364D48}" sibTransId="{D2BF80D6-1B94-49FC-AEDF-CCB021EB225D}"/>
    <dgm:cxn modelId="{B0D2C31F-CB32-4EFE-9A4B-E287F6937BEE}" type="presOf" srcId="{096A664D-0137-45B8-8EB2-1EB0425077C9}" destId="{32E764CF-F4F3-4DAF-8CF7-5AAD33E5CE3B}" srcOrd="0" destOrd="0" presId="urn:microsoft.com/office/officeart/2005/8/layout/list1"/>
    <dgm:cxn modelId="{6A6AB2F5-F267-4484-B54A-949654D500DA}" type="presOf" srcId="{A0BF6AE3-868C-42CA-88FA-18754A358212}" destId="{8C835775-11DC-49C6-B11E-A7B879EF39A9}" srcOrd="1" destOrd="0" presId="urn:microsoft.com/office/officeart/2005/8/layout/list1"/>
    <dgm:cxn modelId="{9D831E81-F672-4218-A19E-15850ACE0611}" type="presOf" srcId="{A0BF6AE3-868C-42CA-88FA-18754A358212}" destId="{D7CA4264-5190-4D2C-9996-945E7F300AE6}" srcOrd="0" destOrd="0" presId="urn:microsoft.com/office/officeart/2005/8/layout/list1"/>
    <dgm:cxn modelId="{2B1FA43C-F6EA-4572-9F7F-CACACC730B29}" type="presOf" srcId="{77E02CED-5717-4A05-AC1A-4287C517E4EB}" destId="{8E9973FF-ACC0-4704-9A74-4EBC59AEFEF4}" srcOrd="0" destOrd="0" presId="urn:microsoft.com/office/officeart/2005/8/layout/list1"/>
    <dgm:cxn modelId="{CD7C344B-FA1A-4FB5-B2A3-147146178E9B}" srcId="{77E02CED-5717-4A05-AC1A-4287C517E4EB}" destId="{096A664D-0137-45B8-8EB2-1EB0425077C9}" srcOrd="0" destOrd="0" parTransId="{4D21BD42-DFDC-4764-A41E-AE9D6C2599BA}" sibTransId="{63677EA4-B507-4D98-99E0-A51343430609}"/>
    <dgm:cxn modelId="{C12075E3-E7DA-482B-B571-B12EFD25C33B}" type="presOf" srcId="{096A664D-0137-45B8-8EB2-1EB0425077C9}" destId="{241E7F71-EAAE-4290-8F3C-9AF75094CDDD}" srcOrd="1" destOrd="0" presId="urn:microsoft.com/office/officeart/2005/8/layout/list1"/>
    <dgm:cxn modelId="{5987D5A5-75F4-4DAF-B748-E9E5C148CEEA}" type="presOf" srcId="{07758F33-9EFE-4909-A8D7-73807B3301C5}" destId="{0B78792E-D565-4F3D-A44A-34A8138FBB70}" srcOrd="0" destOrd="0" presId="urn:microsoft.com/office/officeart/2005/8/layout/list1"/>
    <dgm:cxn modelId="{2A6D0F6C-BE47-4807-8BDF-7EEA8195190C}" type="presParOf" srcId="{8E9973FF-ACC0-4704-9A74-4EBC59AEFEF4}" destId="{64AFF088-AA9C-41D1-9F89-B279470F56CD}" srcOrd="0" destOrd="0" presId="urn:microsoft.com/office/officeart/2005/8/layout/list1"/>
    <dgm:cxn modelId="{BC3FF736-CB51-418B-99E1-64691AED5564}" type="presParOf" srcId="{64AFF088-AA9C-41D1-9F89-B279470F56CD}" destId="{32E764CF-F4F3-4DAF-8CF7-5AAD33E5CE3B}" srcOrd="0" destOrd="0" presId="urn:microsoft.com/office/officeart/2005/8/layout/list1"/>
    <dgm:cxn modelId="{F1954BFF-465C-4073-AC1C-F76DCECA5EF5}" type="presParOf" srcId="{64AFF088-AA9C-41D1-9F89-B279470F56CD}" destId="{241E7F71-EAAE-4290-8F3C-9AF75094CDDD}" srcOrd="1" destOrd="0" presId="urn:microsoft.com/office/officeart/2005/8/layout/list1"/>
    <dgm:cxn modelId="{A8336349-3281-44EB-928C-6C7BB6E267F8}" type="presParOf" srcId="{8E9973FF-ACC0-4704-9A74-4EBC59AEFEF4}" destId="{87E61ACE-6160-4808-95A1-B9DB5B92FB55}" srcOrd="1" destOrd="0" presId="urn:microsoft.com/office/officeart/2005/8/layout/list1"/>
    <dgm:cxn modelId="{9D87DEC3-B7BD-4F51-BA71-AA5F14B124F6}" type="presParOf" srcId="{8E9973FF-ACC0-4704-9A74-4EBC59AEFEF4}" destId="{C88B7223-E2AD-4978-AE52-C911B3E652DA}" srcOrd="2" destOrd="0" presId="urn:microsoft.com/office/officeart/2005/8/layout/list1"/>
    <dgm:cxn modelId="{DE3FF6F7-C507-4D39-AE0E-68735B1C65A7}" type="presParOf" srcId="{8E9973FF-ACC0-4704-9A74-4EBC59AEFEF4}" destId="{F541FF4A-AF8A-4183-8119-378923CEF6A8}" srcOrd="3" destOrd="0" presId="urn:microsoft.com/office/officeart/2005/8/layout/list1"/>
    <dgm:cxn modelId="{6419CBAA-FD3D-402E-86AC-777698383739}" type="presParOf" srcId="{8E9973FF-ACC0-4704-9A74-4EBC59AEFEF4}" destId="{EC6572DF-2A35-42E0-BD01-50D83F3CBD9E}" srcOrd="4" destOrd="0" presId="urn:microsoft.com/office/officeart/2005/8/layout/list1"/>
    <dgm:cxn modelId="{638E81BE-B37A-47FB-9180-AE15C523613B}" type="presParOf" srcId="{EC6572DF-2A35-42E0-BD01-50D83F3CBD9E}" destId="{0B78792E-D565-4F3D-A44A-34A8138FBB70}" srcOrd="0" destOrd="0" presId="urn:microsoft.com/office/officeart/2005/8/layout/list1"/>
    <dgm:cxn modelId="{92BD1B39-B5C2-41CE-AA21-5CBA1B473606}" type="presParOf" srcId="{EC6572DF-2A35-42E0-BD01-50D83F3CBD9E}" destId="{0EB1CE87-B9FB-4059-B41E-59BF76B45CEB}" srcOrd="1" destOrd="0" presId="urn:microsoft.com/office/officeart/2005/8/layout/list1"/>
    <dgm:cxn modelId="{31400C45-5A30-48D8-B375-3F763DE636C3}" type="presParOf" srcId="{8E9973FF-ACC0-4704-9A74-4EBC59AEFEF4}" destId="{D3A0F370-080F-49B7-BB20-9E86AEEB51F8}" srcOrd="5" destOrd="0" presId="urn:microsoft.com/office/officeart/2005/8/layout/list1"/>
    <dgm:cxn modelId="{A550FC31-1E8D-4B2D-8ECC-379A4D9E9AF9}" type="presParOf" srcId="{8E9973FF-ACC0-4704-9A74-4EBC59AEFEF4}" destId="{14267EEC-4CD5-471A-BA5E-D584B2CA5D2F}" srcOrd="6" destOrd="0" presId="urn:microsoft.com/office/officeart/2005/8/layout/list1"/>
    <dgm:cxn modelId="{96F81751-4613-402A-8F8A-5AB04F2F8C1E}" type="presParOf" srcId="{8E9973FF-ACC0-4704-9A74-4EBC59AEFEF4}" destId="{1E969A88-B583-4C1C-87D7-32D2B037B0A1}" srcOrd="7" destOrd="0" presId="urn:microsoft.com/office/officeart/2005/8/layout/list1"/>
    <dgm:cxn modelId="{2A3DE298-CF25-40D4-962A-9F1898EC75B7}" type="presParOf" srcId="{8E9973FF-ACC0-4704-9A74-4EBC59AEFEF4}" destId="{6AA62ABA-DD45-478B-8B17-616227F7685E}" srcOrd="8" destOrd="0" presId="urn:microsoft.com/office/officeart/2005/8/layout/list1"/>
    <dgm:cxn modelId="{137883BE-ADF9-4B26-8199-076B2ABE2CE2}" type="presParOf" srcId="{6AA62ABA-DD45-478B-8B17-616227F7685E}" destId="{D7CA4264-5190-4D2C-9996-945E7F300AE6}" srcOrd="0" destOrd="0" presId="urn:microsoft.com/office/officeart/2005/8/layout/list1"/>
    <dgm:cxn modelId="{1DFB15CA-E6AD-48B8-89F9-57AA3C028433}" type="presParOf" srcId="{6AA62ABA-DD45-478B-8B17-616227F7685E}" destId="{8C835775-11DC-49C6-B11E-A7B879EF39A9}" srcOrd="1" destOrd="0" presId="urn:microsoft.com/office/officeart/2005/8/layout/list1"/>
    <dgm:cxn modelId="{3ED7018B-FBF4-4A44-BC6E-C050DD4312BE}" type="presParOf" srcId="{8E9973FF-ACC0-4704-9A74-4EBC59AEFEF4}" destId="{6EDA177F-F445-43C6-81C0-AECCA6097D51}" srcOrd="9" destOrd="0" presId="urn:microsoft.com/office/officeart/2005/8/layout/list1"/>
    <dgm:cxn modelId="{BFEFA90A-1D39-4CF3-B88F-8606E83C2738}" type="presParOf" srcId="{8E9973FF-ACC0-4704-9A74-4EBC59AEFEF4}" destId="{67FE6D4E-5B27-4404-B2B6-2BB0FE9E005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8B7223-E2AD-4978-AE52-C911B3E652DA}">
      <dsp:nvSpPr>
        <dsp:cNvPr id="0" name=""/>
        <dsp:cNvSpPr/>
      </dsp:nvSpPr>
      <dsp:spPr>
        <a:xfrm>
          <a:off x="0" y="1866435"/>
          <a:ext cx="11811748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1E7F71-EAAE-4290-8F3C-9AF75094CDDD}">
      <dsp:nvSpPr>
        <dsp:cNvPr id="0" name=""/>
        <dsp:cNvSpPr/>
      </dsp:nvSpPr>
      <dsp:spPr>
        <a:xfrm>
          <a:off x="585520" y="5747"/>
          <a:ext cx="8260149" cy="18155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519" tIns="0" rIns="312519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В дальнейшем планируется создание модели </a:t>
          </a:r>
          <a:r>
            <a:rPr lang="ru-RU" sz="1800" kern="1200" dirty="0" err="1" smtClean="0"/>
            <a:t>нейросети</a:t>
          </a:r>
          <a:r>
            <a:rPr lang="ru-RU" sz="1800" kern="1200" dirty="0" smtClean="0"/>
            <a:t> для прогнозирования использованных компонентов и их пропорций по необходимым свойствам конечного продукта. А также предложения аналогичных рецептов-заменителей исходя из стоимости производственных компонентов. </a:t>
          </a:r>
          <a:br>
            <a:rPr lang="ru-RU" sz="1800" kern="1200" dirty="0" smtClean="0"/>
          </a:br>
          <a:r>
            <a:rPr lang="ru-RU" sz="1800" kern="1200" dirty="0" smtClean="0"/>
            <a:t>Готовая модель также может быть легко переобучена для работы с другими полимерами и композитами</a:t>
          </a:r>
          <a:r>
            <a:rPr lang="ru-RU" sz="1400" kern="1200" dirty="0" smtClean="0"/>
            <a:t>.</a:t>
          </a:r>
          <a:r>
            <a:rPr lang="ru-RU" sz="500" kern="1200" dirty="0" smtClean="0"/>
            <a:t/>
          </a:r>
          <a:br>
            <a:rPr lang="ru-RU" sz="500" kern="1200" dirty="0" smtClean="0"/>
          </a:br>
          <a:endParaRPr lang="ru-RU" sz="500" kern="1200" dirty="0"/>
        </a:p>
      </dsp:txBody>
      <dsp:txXfrm>
        <a:off x="674146" y="94373"/>
        <a:ext cx="8082897" cy="1638254"/>
      </dsp:txXfrm>
    </dsp:sp>
    <dsp:sp modelId="{14267EEC-4CD5-471A-BA5E-D584B2CA5D2F}">
      <dsp:nvSpPr>
        <dsp:cNvPr id="0" name=""/>
        <dsp:cNvSpPr/>
      </dsp:nvSpPr>
      <dsp:spPr>
        <a:xfrm>
          <a:off x="0" y="3752781"/>
          <a:ext cx="11811748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B1CE87-B9FB-4059-B41E-59BF76B45CEB}">
      <dsp:nvSpPr>
        <dsp:cNvPr id="0" name=""/>
        <dsp:cNvSpPr/>
      </dsp:nvSpPr>
      <dsp:spPr>
        <a:xfrm>
          <a:off x="590010" y="2203035"/>
          <a:ext cx="8260149" cy="17121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519" tIns="0" rIns="312519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Данная разработка позволит стране занять технологическое лидерство в области применения нейронных сетей в цифровой химии. А также ускорит все исследования и разработки данной области, что также будет способствовать выходу большего количества российской продукции на зарубежный рынок.</a:t>
          </a:r>
          <a:endParaRPr lang="ru-RU" sz="1800" kern="1200" dirty="0"/>
        </a:p>
      </dsp:txBody>
      <dsp:txXfrm>
        <a:off x="673588" y="2286613"/>
        <a:ext cx="8092993" cy="1544949"/>
      </dsp:txXfrm>
    </dsp:sp>
    <dsp:sp modelId="{67FE6D4E-5B27-4404-B2B6-2BB0FE9E0059}">
      <dsp:nvSpPr>
        <dsp:cNvPr id="0" name=""/>
        <dsp:cNvSpPr/>
      </dsp:nvSpPr>
      <dsp:spPr>
        <a:xfrm>
          <a:off x="0" y="5284142"/>
          <a:ext cx="11811748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835775-11DC-49C6-B11E-A7B879EF39A9}">
      <dsp:nvSpPr>
        <dsp:cNvPr id="0" name=""/>
        <dsp:cNvSpPr/>
      </dsp:nvSpPr>
      <dsp:spPr>
        <a:xfrm>
          <a:off x="590010" y="4089381"/>
          <a:ext cx="8260149" cy="13571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519" tIns="0" rIns="312519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Однако создание будет возможно лишь при полной поддержке и финансировании проекта, увеличения числа разработчиков и широком внедрением в деятельность исследовательских лабораторий, технопарков и промышленных предприятий.</a:t>
          </a:r>
          <a:endParaRPr lang="ru-RU" sz="1400" kern="1200" dirty="0"/>
        </a:p>
      </dsp:txBody>
      <dsp:txXfrm>
        <a:off x="656259" y="4155630"/>
        <a:ext cx="8127651" cy="12246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40663-041B-49D4-AA57-F7D33662D2D8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6D06BE-1737-4B08-BDAC-65540C433D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1719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9F5BA7-8A42-4C17-88BC-93EDE01D08E6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B7B4BE-A665-4D7B-B2C9-7223E4EF14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0340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B7B4BE-A665-4D7B-B2C9-7223E4EF141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080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B7B4BE-A665-4D7B-B2C9-7223E4EF141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410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B7B4BE-A665-4D7B-B2C9-7223E4EF141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283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B7B4BE-A665-4D7B-B2C9-7223E4EF141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248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B7B4BE-A665-4D7B-B2C9-7223E4EF141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457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B7B4BE-A665-4D7B-B2C9-7223E4EF141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577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B7B4BE-A665-4D7B-B2C9-7223E4EF141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3782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B7B4BE-A665-4D7B-B2C9-7223E4EF1411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562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3090-AA83-48ED-8D47-EE821B027653}" type="datetime1">
              <a:rPr lang="ru-RU" smtClean="0"/>
              <a:t>18.09.2025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90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D5B5-D0F9-452B-B3E7-FEF3D1B96207}" type="datetime1">
              <a:rPr lang="ru-RU" smtClean="0"/>
              <a:t>18.09.2025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9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ACF7-5323-43B1-BD2A-7D96AE26C8E5}" type="datetime1">
              <a:rPr lang="ru-RU" smtClean="0"/>
              <a:t>18.09.2025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70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2FA51-CC60-4A6A-B767-CDD0C702F07C}" type="datetime1">
              <a:rPr lang="ru-RU" smtClean="0"/>
              <a:t>18.09.2025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75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DD85-83BA-4B67-B148-F0A046C9BC23}" type="datetime1">
              <a:rPr lang="ru-RU" smtClean="0"/>
              <a:t>18.09.2025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815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1705-AC8A-45BC-A33A-7ACD159E59F8}" type="datetime1">
              <a:rPr lang="ru-RU" smtClean="0"/>
              <a:t>18.09.2025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534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987F8-06F3-4179-8D2D-CFAAF424E790}" type="datetime1">
              <a:rPr lang="ru-RU" smtClean="0"/>
              <a:t>18.09.2025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524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7B4E3-CC6A-4A9E-97C0-406FD67EFDE3}" type="datetime1">
              <a:rPr lang="ru-RU" smtClean="0"/>
              <a:t>18.09.2025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8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5DF5D-5CE0-494D-A3F1-BE67B155DF85}" type="datetime1">
              <a:rPr lang="ru-RU" smtClean="0"/>
              <a:t>18.09.2025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09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4E8D2-A1E2-4507-8923-4B12ED8EA97E}" type="datetime1">
              <a:rPr lang="ru-RU" smtClean="0"/>
              <a:t>18.09.2025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42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F2AC0-46E0-474F-A3F3-9DDA9172F393}" type="datetime1">
              <a:rPr lang="ru-RU" smtClean="0"/>
              <a:t>18.09.2025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50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BD808-DD80-484E-BA9B-86529BF8C13A}" type="datetime1">
              <a:rPr lang="ru-RU" smtClean="0"/>
              <a:t>18.09.2025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2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5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5.png"/><Relationship Id="rId7" Type="http://schemas.openxmlformats.org/officeDocument/2006/relationships/image" Target="../media/image17.emf"/><Relationship Id="rId12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4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9.png"/><Relationship Id="rId9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20414">
            <a:off x="5127197" y="2243161"/>
            <a:ext cx="1513768" cy="226688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480" y="164637"/>
            <a:ext cx="1630192" cy="816000"/>
          </a:xfrm>
          <a:prstGeom prst="rect">
            <a:avLst/>
          </a:prstGeom>
        </p:spPr>
      </p:pic>
      <p:grpSp>
        <p:nvGrpSpPr>
          <p:cNvPr id="2" name="Группа 1"/>
          <p:cNvGrpSpPr/>
          <p:nvPr/>
        </p:nvGrpSpPr>
        <p:grpSpPr>
          <a:xfrm>
            <a:off x="6312024" y="1124744"/>
            <a:ext cx="5472608" cy="4967514"/>
            <a:chOff x="6762787" y="1043103"/>
            <a:chExt cx="4997842" cy="4967514"/>
          </a:xfrm>
        </p:grpSpPr>
        <p:pic>
          <p:nvPicPr>
            <p:cNvPr id="22" name="Рисунок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268055">
              <a:off x="6762787" y="5105956"/>
              <a:ext cx="653511" cy="614443"/>
            </a:xfrm>
            <a:prstGeom prst="rect">
              <a:avLst/>
            </a:prstGeom>
          </p:spPr>
        </p:pic>
        <p:pic>
          <p:nvPicPr>
            <p:cNvPr id="20" name="Рисунок 1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268055">
              <a:off x="6769703" y="2249627"/>
              <a:ext cx="653511" cy="614443"/>
            </a:xfrm>
            <a:prstGeom prst="rect">
              <a:avLst/>
            </a:prstGeom>
          </p:spPr>
        </p:pic>
        <p:pic>
          <p:nvPicPr>
            <p:cNvPr id="19" name="Рисунок 1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268055">
              <a:off x="6769705" y="1045746"/>
              <a:ext cx="653511" cy="614443"/>
            </a:xfrm>
            <a:prstGeom prst="rect">
              <a:avLst/>
            </a:prstGeom>
          </p:spPr>
        </p:pic>
        <p:sp>
          <p:nvSpPr>
            <p:cNvPr id="8" name="Прямоугольник 7"/>
            <p:cNvSpPr/>
            <p:nvPr/>
          </p:nvSpPr>
          <p:spPr>
            <a:xfrm>
              <a:off x="7248128" y="1043103"/>
              <a:ext cx="4512501" cy="49675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369888">
                <a:lnSpc>
                  <a:spcPct val="110000"/>
                </a:lnSpc>
                <a:buAutoNum type="arabicPeriod"/>
              </a:pPr>
              <a:r>
                <a:rPr lang="ru-RU" sz="2400" dirty="0">
                  <a:latin typeface="Times New Roman" pitchFamily="18" charset="0"/>
                  <a:cs typeface="Times New Roman" pitchFamily="18" charset="0"/>
                </a:rPr>
                <a:t>Заявка на конкурс №</a:t>
              </a:r>
              <a:r>
                <a:rPr lang="ru-RU" sz="2400" dirty="0" err="1">
                  <a:latin typeface="Times New Roman" pitchFamily="18" charset="0"/>
                  <a:cs typeface="Times New Roman" pitchFamily="18" charset="0"/>
                </a:rPr>
                <a:t>СтС</a:t>
              </a:r>
              <a:r>
                <a:rPr lang="ru-RU" sz="2400" dirty="0">
                  <a:latin typeface="Times New Roman" pitchFamily="18" charset="0"/>
                  <a:cs typeface="Times New Roman" pitchFamily="18" charset="0"/>
                </a:rPr>
                <a:t>-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505748</a:t>
              </a:r>
              <a:r>
                <a:rPr lang="ru-RU" sz="2400" dirty="0">
                  <a:latin typeface="Times New Roman" pitchFamily="18" charset="0"/>
                  <a:ea typeface="Tahoma" panose="020B0604030504040204" pitchFamily="34" charset="0"/>
                  <a:cs typeface="Times New Roman" pitchFamily="18" charset="0"/>
                </a:rPr>
                <a:t>.</a:t>
              </a:r>
            </a:p>
            <a:p>
              <a:pPr marL="116413">
                <a:lnSpc>
                  <a:spcPct val="110000"/>
                </a:lnSpc>
              </a:pPr>
              <a:endPara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endParaRPr>
            </a:p>
            <a:p>
              <a:pPr marL="457200" indent="-369888">
                <a:lnSpc>
                  <a:spcPct val="110000"/>
                </a:lnSpc>
                <a:buFont typeface="Arial" panose="020B0604020202020204" pitchFamily="34" charset="0"/>
                <a:buAutoNum type="arabicPeriod"/>
              </a:pPr>
              <a:r>
                <a:rPr lang="ru-RU" sz="2400" dirty="0">
                  <a:latin typeface="Times New Roman" pitchFamily="18" charset="0"/>
                  <a:ea typeface="Tahoma" panose="020B0604030504040204" pitchFamily="34" charset="0"/>
                  <a:cs typeface="Times New Roman" pitchFamily="18" charset="0"/>
                </a:rPr>
                <a:t>Проект на тему «</a:t>
              </a:r>
              <a:r>
                <a:rPr lang="ru-RU" sz="2400" dirty="0">
                  <a:latin typeface="Times New Roman" pitchFamily="18" charset="0"/>
                  <a:cs typeface="Times New Roman" pitchFamily="18" charset="0"/>
                </a:rPr>
                <a:t>Создание нейронной сети для автоматического определения свойств полипропилена по его количественным пропорциям компонентов»</a:t>
              </a:r>
              <a:r>
                <a:rPr lang="ru-RU" sz="2400" dirty="0">
                  <a:latin typeface="Times New Roman" pitchFamily="18" charset="0"/>
                  <a:ea typeface="Tahoma" panose="020B0604030504040204" pitchFamily="34" charset="0"/>
                  <a:cs typeface="Times New Roman" pitchFamily="18" charset="0"/>
                </a:rPr>
                <a:t>.</a:t>
              </a:r>
            </a:p>
            <a:p>
              <a:pPr marL="116413">
                <a:lnSpc>
                  <a:spcPct val="110000"/>
                </a:lnSpc>
              </a:pPr>
              <a:endPara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endParaRPr>
            </a:p>
            <a:p>
              <a:pPr marL="457200" indent="-369888">
                <a:lnSpc>
                  <a:spcPct val="110000"/>
                </a:lnSpc>
                <a:buAutoNum type="arabicPeriod"/>
              </a:pPr>
              <a:r>
                <a:rPr lang="ru-RU" sz="2400" dirty="0">
                  <a:latin typeface="Times New Roman" pitchFamily="18" charset="0"/>
                  <a:ea typeface="Tahoma" panose="020B0604030504040204" pitchFamily="34" charset="0"/>
                  <a:cs typeface="Times New Roman" pitchFamily="18" charset="0"/>
                </a:rPr>
                <a:t>Заявитель Казаков </a:t>
              </a:r>
              <a:r>
                <a:rPr lang="ru-RU" sz="2400" dirty="0" smtClean="0">
                  <a:latin typeface="Times New Roman" pitchFamily="18" charset="0"/>
                  <a:ea typeface="Tahoma" panose="020B0604030504040204" pitchFamily="34" charset="0"/>
                  <a:cs typeface="Times New Roman" pitchFamily="18" charset="0"/>
                </a:rPr>
                <a:t>Артур </a:t>
              </a:r>
              <a:r>
                <a:rPr lang="ru-RU" sz="2400" dirty="0" err="1" smtClean="0">
                  <a:latin typeface="Times New Roman" pitchFamily="18" charset="0"/>
                  <a:ea typeface="Tahoma" panose="020B0604030504040204" pitchFamily="34" charset="0"/>
                  <a:cs typeface="Times New Roman" pitchFamily="18" charset="0"/>
                </a:rPr>
                <a:t>Айратович</a:t>
              </a:r>
              <a:endParaRPr lang="ru-RU" sz="2400" dirty="0">
                <a:latin typeface="Times New Roman" pitchFamily="18" charset="0"/>
                <a:ea typeface="Tahoma" panose="020B0604030504040204" pitchFamily="34" charset="0"/>
                <a:cs typeface="Times New Roman" pitchFamily="18" charset="0"/>
              </a:endParaRPr>
            </a:p>
          </p:txBody>
        </p:sp>
      </p:grpSp>
      <p:pic>
        <p:nvPicPr>
          <p:cNvPr id="12" name="Рисунок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80" y="0"/>
            <a:ext cx="5659348" cy="6858000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1199456" y="2239643"/>
            <a:ext cx="4203124" cy="1725141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b="1" dirty="0" err="1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Студенческий</a:t>
            </a:r>
            <a:r>
              <a:rPr lang="ru-RU" b="1" dirty="0" err="1" smtClean="0">
                <a:solidFill>
                  <a:srgbClr val="ED3833"/>
                </a:solidFill>
                <a:latin typeface="Arial Black" panose="020B0A04020102020204" pitchFamily="34" charset="0"/>
              </a:rPr>
              <a:t>Стартап</a:t>
            </a:r>
            <a:endParaRPr lang="ru-RU" b="1" dirty="0">
              <a:solidFill>
                <a:srgbClr val="ED3833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3863752" y="2924944"/>
            <a:ext cx="1591076" cy="784837"/>
          </a:xfrm>
          <a:prstGeom prst="roundRect">
            <a:avLst/>
          </a:pr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VI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очередь</a:t>
            </a:r>
          </a:p>
        </p:txBody>
      </p:sp>
    </p:spTree>
    <p:extLst>
      <p:ext uri="{BB962C8B-B14F-4D97-AF65-F5344CB8AC3E}">
        <p14:creationId xmlns:p14="http://schemas.microsoft.com/office/powerpoint/2010/main" val="2633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64" y="764283"/>
            <a:ext cx="4446752" cy="5388576"/>
          </a:xfrm>
          <a:prstGeom prst="rect">
            <a:avLst/>
          </a:prstGeom>
        </p:spPr>
      </p:pic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 rot="5400000">
            <a:off x="10418636" y="1727646"/>
            <a:ext cx="3501008" cy="45719"/>
            <a:chOff x="0" y="616563"/>
            <a:chExt cx="2624903" cy="248953"/>
          </a:xfrm>
        </p:grpSpPr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16563"/>
              <a:ext cx="1294463" cy="248953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16563"/>
              <a:ext cx="1294463" cy="248953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43" name="Прямоугольник 42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16563"/>
              <a:ext cx="1294463" cy="248953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16563"/>
              <a:ext cx="1294463" cy="248953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16563"/>
              <a:ext cx="1294463" cy="248953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2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456" y="5042849"/>
            <a:ext cx="1698603" cy="1338479"/>
          </a:xfrm>
          <a:prstGeom prst="rect">
            <a:avLst/>
          </a:prstGeom>
        </p:spPr>
      </p:pic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z="1400" smtClean="0">
                <a:solidFill>
                  <a:srgbClr val="1342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ru-RU" sz="1400" dirty="0">
              <a:solidFill>
                <a:srgbClr val="13427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bg object 46"/>
          <p:cNvSpPr/>
          <p:nvPr/>
        </p:nvSpPr>
        <p:spPr>
          <a:xfrm>
            <a:off x="0" y="1"/>
            <a:ext cx="12192000" cy="825052"/>
          </a:xfrm>
          <a:custGeom>
            <a:avLst/>
            <a:gdLst/>
            <a:ahLst/>
            <a:cxnLst/>
            <a:rect l="l" t="t" r="r" b="b"/>
            <a:pathLst>
              <a:path w="20104100" h="1341120">
                <a:moveTo>
                  <a:pt x="20104099" y="0"/>
                </a:moveTo>
                <a:lnTo>
                  <a:pt x="0" y="0"/>
                </a:lnTo>
                <a:lnTo>
                  <a:pt x="0" y="1340608"/>
                </a:lnTo>
                <a:lnTo>
                  <a:pt x="20104099" y="1340608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46AF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608" y="7429"/>
            <a:ext cx="1595680" cy="90772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A6FFE1B-8AF4-61BB-55F6-179DEE6888D7}"/>
              </a:ext>
            </a:extLst>
          </p:cNvPr>
          <p:cNvSpPr txBox="1"/>
          <p:nvPr/>
        </p:nvSpPr>
        <p:spPr bwMode="auto">
          <a:xfrm>
            <a:off x="426728" y="260900"/>
            <a:ext cx="854959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ru-RU"/>
            </a:defPPr>
            <a:lvl1pPr>
              <a:defRPr sz="2133" b="1">
                <a:solidFill>
                  <a:srgbClr val="3B74AF"/>
                </a:solidFill>
                <a:latin typeface="DIN Pro Bold" panose="020B0604020202020204" charset="0"/>
                <a:ea typeface="Tahoma"/>
                <a:cs typeface="DIN Pro Bold" panose="020B0604020202020204" charset="0"/>
              </a:defRPr>
            </a:lvl1pPr>
          </a:lstStyle>
          <a:p>
            <a:r>
              <a:rPr lang="ru-RU" sz="24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 ПРОДУКТЕ</a:t>
            </a:r>
            <a:endParaRPr lang="ru-RU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Объект 15"/>
          <p:cNvPicPr>
            <a:picLocks noGrp="1"/>
          </p:cNvPicPr>
          <p:nvPr>
            <p:ph idx="1"/>
          </p:nvPr>
        </p:nvPicPr>
        <p:blipFill rotWithShape="1">
          <a:blip r:embed="rId6"/>
          <a:srcRect b="47414"/>
          <a:stretch/>
        </p:blipFill>
        <p:spPr bwMode="auto">
          <a:xfrm>
            <a:off x="137064" y="825052"/>
            <a:ext cx="5460202" cy="27896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6" name="Заголовок 1"/>
          <p:cNvSpPr txBox="1">
            <a:spLocks/>
          </p:cNvSpPr>
          <p:nvPr/>
        </p:nvSpPr>
        <p:spPr>
          <a:xfrm>
            <a:off x="1" y="116632"/>
            <a:ext cx="4499991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Прямоугольник 45"/>
          <p:cNvSpPr/>
          <p:nvPr/>
        </p:nvSpPr>
        <p:spPr>
          <a:xfrm>
            <a:off x="5724339" y="1143346"/>
            <a:ext cx="52814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Данная нейронная сеть будет применяться для автоматизации и  ускорения исследований новых рецептур связанных с полипропиленом, а также исключения при разработке ошибок связанных с человеческим фактором и сокращения издержек на эксперименты.</a:t>
            </a:r>
            <a:endParaRPr lang="ru-RU" sz="2000" dirty="0"/>
          </a:p>
        </p:txBody>
      </p:sp>
      <p:sp>
        <p:nvSpPr>
          <p:cNvPr id="47" name="Прямоугольник 46"/>
          <p:cNvSpPr/>
          <p:nvPr/>
        </p:nvSpPr>
        <p:spPr>
          <a:xfrm>
            <a:off x="288397" y="3614744"/>
            <a:ext cx="859083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1" dirty="0" smtClean="0"/>
              <a:t>Требования к программе нейронной сети:</a:t>
            </a:r>
            <a:endParaRPr lang="ru-RU" sz="2000" b="1" i="1" dirty="0"/>
          </a:p>
          <a:p>
            <a:r>
              <a:rPr lang="ru-RU" sz="2000" dirty="0"/>
              <a:t>1. </a:t>
            </a:r>
            <a:r>
              <a:rPr lang="ru-RU" sz="2000" dirty="0" smtClean="0"/>
              <a:t>Низкий процент погрешности при выводе свойств.</a:t>
            </a:r>
            <a:endParaRPr lang="ru-RU" sz="2000" dirty="0"/>
          </a:p>
          <a:p>
            <a:r>
              <a:rPr lang="ru-RU" sz="2000" dirty="0" smtClean="0"/>
              <a:t>2</a:t>
            </a:r>
            <a:r>
              <a:rPr lang="ru-RU" sz="2000" dirty="0"/>
              <a:t>. </a:t>
            </a:r>
            <a:r>
              <a:rPr lang="ru-RU" sz="2000" dirty="0" smtClean="0"/>
              <a:t>Отсутствие необходимости переобучения модели.</a:t>
            </a:r>
            <a:endParaRPr lang="ru-RU" sz="2000" dirty="0"/>
          </a:p>
          <a:p>
            <a:r>
              <a:rPr lang="ru-RU" sz="2000" dirty="0" smtClean="0"/>
              <a:t>3</a:t>
            </a:r>
            <a:r>
              <a:rPr lang="ru-RU" sz="2000" dirty="0"/>
              <a:t>. </a:t>
            </a:r>
            <a:r>
              <a:rPr lang="ru-RU" sz="2000" dirty="0" smtClean="0"/>
              <a:t>Возможность переобучения модели или ее фиксации на определенном уровне.</a:t>
            </a:r>
            <a:endParaRPr lang="ru-RU" sz="2000" dirty="0"/>
          </a:p>
          <a:p>
            <a:r>
              <a:rPr lang="ru-RU" sz="2000" dirty="0" smtClean="0"/>
              <a:t>4. Удобство и простота использования.</a:t>
            </a:r>
          </a:p>
          <a:p>
            <a:r>
              <a:rPr lang="ru-RU" sz="2000" dirty="0" smtClean="0"/>
              <a:t>5. Защита данных от кражи.</a:t>
            </a:r>
            <a:endParaRPr lang="ru-RU" sz="2000" dirty="0"/>
          </a:p>
          <a:p>
            <a:r>
              <a:rPr lang="ru-RU" sz="2000" dirty="0"/>
              <a:t>6</a:t>
            </a:r>
            <a:r>
              <a:rPr lang="ru-RU" sz="2000" dirty="0" smtClean="0"/>
              <a:t>. Высокая скорость обработки данных и выдачи ответа пользователю.</a:t>
            </a:r>
            <a:r>
              <a:rPr lang="ru-RU" sz="20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3957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Рисунок 4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70" y="488696"/>
            <a:ext cx="4446752" cy="5388576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5FDB190E-7641-4AE1-A901-8EA894E0D6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121" y="5125299"/>
            <a:ext cx="1414145" cy="131298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2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 rot="5400000">
            <a:off x="10418636" y="1727646"/>
            <a:ext cx="3501008" cy="45719"/>
            <a:chOff x="0" y="616563"/>
            <a:chExt cx="2624903" cy="248953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16563"/>
              <a:ext cx="1294463" cy="248953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16563"/>
              <a:ext cx="1294463" cy="248953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16563"/>
              <a:ext cx="1294463" cy="248953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16563"/>
              <a:ext cx="1294463" cy="248953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16563"/>
              <a:ext cx="1294463" cy="248953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</p:grp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>
          <a:xfrm>
            <a:off x="8737600" y="6376243"/>
            <a:ext cx="2844800" cy="365125"/>
          </a:xfrm>
        </p:spPr>
        <p:txBody>
          <a:bodyPr/>
          <a:lstStyle/>
          <a:p>
            <a:fld id="{99F568C9-4A46-43B8-AEB4-C2630076730F}" type="slidenum">
              <a:rPr lang="ru-RU" sz="1400" smtClean="0">
                <a:solidFill>
                  <a:srgbClr val="1342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ru-RU" sz="1400" dirty="0">
              <a:solidFill>
                <a:srgbClr val="13427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64" y="5182250"/>
            <a:ext cx="1521695" cy="1199078"/>
          </a:xfrm>
          <a:prstGeom prst="rect">
            <a:avLst/>
          </a:prstGeom>
        </p:spPr>
      </p:pic>
      <p:sp>
        <p:nvSpPr>
          <p:cNvPr id="47" name="bg object 46"/>
          <p:cNvSpPr/>
          <p:nvPr/>
        </p:nvSpPr>
        <p:spPr>
          <a:xfrm>
            <a:off x="0" y="1"/>
            <a:ext cx="12192000" cy="825052"/>
          </a:xfrm>
          <a:custGeom>
            <a:avLst/>
            <a:gdLst/>
            <a:ahLst/>
            <a:cxnLst/>
            <a:rect l="l" t="t" r="r" b="b"/>
            <a:pathLst>
              <a:path w="20104100" h="1341120">
                <a:moveTo>
                  <a:pt x="20104099" y="0"/>
                </a:moveTo>
                <a:lnTo>
                  <a:pt x="0" y="0"/>
                </a:lnTo>
                <a:lnTo>
                  <a:pt x="0" y="1340608"/>
                </a:lnTo>
                <a:lnTo>
                  <a:pt x="20104099" y="1340608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46AF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pic>
        <p:nvPicPr>
          <p:cNvPr id="48" name="Рисунок 4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608" y="7429"/>
            <a:ext cx="1595680" cy="907723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A6FFE1B-8AF4-61BB-55F6-179DEE6888D7}"/>
              </a:ext>
            </a:extLst>
          </p:cNvPr>
          <p:cNvSpPr txBox="1"/>
          <p:nvPr/>
        </p:nvSpPr>
        <p:spPr bwMode="auto">
          <a:xfrm>
            <a:off x="426728" y="260900"/>
            <a:ext cx="854959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ru-RU"/>
            </a:defPPr>
            <a:lvl1pPr>
              <a:defRPr sz="2133" b="1">
                <a:solidFill>
                  <a:srgbClr val="3B74AF"/>
                </a:solidFill>
                <a:latin typeface="DIN Pro Bold" panose="020B0604020202020204" charset="0"/>
                <a:ea typeface="Tahoma"/>
                <a:cs typeface="DIN Pro Bold" panose="020B0604020202020204" charset="0"/>
              </a:defRPr>
            </a:lvl1pPr>
          </a:lstStyle>
          <a:p>
            <a:r>
              <a:rPr lang="ru-RU" sz="24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ТЕХНОЛОГИЧНОСТЬ СТАРТАП-ПРОЕКТА</a:t>
            </a:r>
            <a:endParaRPr lang="ru-RU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752385" y="1025460"/>
            <a:ext cx="4499991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715566" y="955396"/>
            <a:ext cx="569647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u="sng" dirty="0"/>
              <a:t>Научно-техническое </a:t>
            </a:r>
            <a:r>
              <a:rPr lang="ru-RU" b="1" i="1" u="sng" dirty="0" smtClean="0"/>
              <a:t>решение :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ru-RU" dirty="0" smtClean="0"/>
              <a:t>проведении </a:t>
            </a:r>
            <a:r>
              <a:rPr lang="ru-RU" dirty="0"/>
              <a:t>НИР, </a:t>
            </a:r>
            <a:endParaRPr lang="ru-RU" dirty="0" smtClean="0"/>
          </a:p>
          <a:p>
            <a:pPr marL="285750" indent="-285750">
              <a:buFont typeface="Wingdings" pitchFamily="2" charset="2"/>
              <a:buChar char="ü"/>
            </a:pPr>
            <a:r>
              <a:rPr lang="ru-RU" dirty="0" smtClean="0"/>
              <a:t>создании прототипа ИИ и базы данных,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ru-RU" dirty="0"/>
              <a:t>с</a:t>
            </a:r>
            <a:r>
              <a:rPr lang="ru-RU" dirty="0" smtClean="0"/>
              <a:t>оздание прототипа пользовательского приложения,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ru-RU" dirty="0" smtClean="0"/>
              <a:t>повышении </a:t>
            </a:r>
            <a:r>
              <a:rPr lang="ru-RU" dirty="0"/>
              <a:t>узнаваемости нового продукта, </a:t>
            </a:r>
            <a:endParaRPr lang="ru-RU" dirty="0" smtClean="0"/>
          </a:p>
          <a:p>
            <a:pPr marL="285750" indent="-285750">
              <a:buFont typeface="Wingdings" pitchFamily="2" charset="2"/>
              <a:buChar char="ü"/>
            </a:pPr>
            <a:r>
              <a:rPr lang="ru-RU" dirty="0" smtClean="0"/>
              <a:t>нахождении </a:t>
            </a:r>
            <a:r>
              <a:rPr lang="ru-RU" dirty="0"/>
              <a:t>новых областей </a:t>
            </a:r>
            <a:r>
              <a:rPr lang="ru-RU" dirty="0" smtClean="0"/>
              <a:t>применения</a:t>
            </a:r>
            <a:r>
              <a:rPr lang="ru-RU" dirty="0"/>
              <a:t>.</a:t>
            </a:r>
          </a:p>
          <a:p>
            <a:endParaRPr lang="ru-RU" dirty="0" smtClean="0"/>
          </a:p>
        </p:txBody>
      </p:sp>
      <p:sp>
        <p:nvSpPr>
          <p:cNvPr id="30" name="Правая фигурная скобка 29"/>
          <p:cNvSpPr/>
          <p:nvPr/>
        </p:nvSpPr>
        <p:spPr>
          <a:xfrm>
            <a:off x="6596697" y="1005460"/>
            <a:ext cx="618045" cy="1754326"/>
          </a:xfrm>
          <a:prstGeom prst="rightBrac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/>
          <p:cNvSpPr/>
          <p:nvPr/>
        </p:nvSpPr>
        <p:spPr>
          <a:xfrm>
            <a:off x="5252376" y="2887304"/>
            <a:ext cx="51915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itchFamily="2" charset="2"/>
              <a:buChar char="ü"/>
            </a:pPr>
            <a:r>
              <a:rPr lang="ru-RU" dirty="0">
                <a:solidFill>
                  <a:prstClr val="black"/>
                </a:solidFill>
              </a:rPr>
              <a:t>получение патента на </a:t>
            </a:r>
            <a:r>
              <a:rPr lang="ru-RU" dirty="0" smtClean="0">
                <a:solidFill>
                  <a:prstClr val="black"/>
                </a:solidFill>
              </a:rPr>
              <a:t>программу, </a:t>
            </a:r>
            <a:endParaRPr lang="ru-RU" dirty="0">
              <a:solidFill>
                <a:prstClr val="black"/>
              </a:solidFill>
            </a:endParaRPr>
          </a:p>
          <a:p>
            <a:pPr marL="285750" lvl="0" indent="-285750">
              <a:buFont typeface="Wingdings" pitchFamily="2" charset="2"/>
              <a:buChar char="ü"/>
            </a:pPr>
            <a:r>
              <a:rPr lang="ru-RU" dirty="0">
                <a:solidFill>
                  <a:prstClr val="black"/>
                </a:solidFill>
              </a:rPr>
              <a:t>прохождение добровольной сертификации продукта.</a:t>
            </a:r>
          </a:p>
        </p:txBody>
      </p:sp>
      <p:sp>
        <p:nvSpPr>
          <p:cNvPr id="32" name="Левая фигурная скобка 31"/>
          <p:cNvSpPr/>
          <p:nvPr/>
        </p:nvSpPr>
        <p:spPr>
          <a:xfrm>
            <a:off x="4348512" y="2889631"/>
            <a:ext cx="308040" cy="921003"/>
          </a:xfrm>
          <a:prstGeom prst="leftBrace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/>
          <p:cNvSpPr txBox="1"/>
          <p:nvPr/>
        </p:nvSpPr>
        <p:spPr>
          <a:xfrm>
            <a:off x="2449986" y="2997219"/>
            <a:ext cx="2251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smtClean="0"/>
              <a:t>2 год</a:t>
            </a:r>
            <a:endParaRPr lang="ru-RU" sz="4000" dirty="0"/>
          </a:p>
        </p:txBody>
      </p:sp>
      <p:sp>
        <p:nvSpPr>
          <p:cNvPr id="34" name="Прямоугольник 33"/>
          <p:cNvSpPr/>
          <p:nvPr/>
        </p:nvSpPr>
        <p:spPr>
          <a:xfrm>
            <a:off x="584151" y="4051740"/>
            <a:ext cx="875799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 err="1" smtClean="0">
                <a:latin typeface="Times New Roman" pitchFamily="18" charset="0"/>
                <a:cs typeface="Times New Roman" pitchFamily="18" charset="0"/>
              </a:rPr>
              <a:t>Инновационность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продукта:</a:t>
            </a:r>
          </a:p>
          <a:p>
            <a:r>
              <a:rPr lang="ru-RU" dirty="0" smtClean="0"/>
              <a:t>Использование данной программы позволит сократить время и затраты на разработку новых рецептур связанных с полипропиленом, что позволит ускорить работу исследовательских центров и выступит в качестве поддержки для </a:t>
            </a:r>
            <a:r>
              <a:rPr lang="ru-RU" dirty="0" err="1" smtClean="0"/>
              <a:t>стартап</a:t>
            </a:r>
            <a:r>
              <a:rPr lang="ru-RU" dirty="0" smtClean="0"/>
              <a:t> проектов в области полипропилена. А также позволит заполучить </a:t>
            </a:r>
            <a:r>
              <a:rPr lang="ru-RU" b="1" dirty="0" smtClean="0"/>
              <a:t>Технологическое лидерство</a:t>
            </a:r>
            <a:r>
              <a:rPr lang="ru-RU" dirty="0" smtClean="0"/>
              <a:t> в данном направлении, а при дальнейшем развитии его закрепить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7642373" y="1522722"/>
            <a:ext cx="2251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smtClean="0"/>
              <a:t>1 год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40801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2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 rot="5400000">
            <a:off x="10418636" y="1727646"/>
            <a:ext cx="3501008" cy="45719"/>
            <a:chOff x="0" y="616563"/>
            <a:chExt cx="2624903" cy="248953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16563"/>
              <a:ext cx="1294463" cy="248953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16563"/>
              <a:ext cx="1294463" cy="248953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16563"/>
              <a:ext cx="1294463" cy="248953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16563"/>
              <a:ext cx="1294463" cy="248953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16563"/>
              <a:ext cx="1294463" cy="248953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</p:grp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64" y="5182250"/>
            <a:ext cx="1521695" cy="1199078"/>
          </a:xfrm>
          <a:prstGeom prst="rect">
            <a:avLst/>
          </a:prstGeom>
        </p:spPr>
      </p:pic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z="1400" smtClean="0">
                <a:solidFill>
                  <a:srgbClr val="1342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ru-RU" sz="1400" dirty="0">
              <a:solidFill>
                <a:srgbClr val="13427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4" name="Рисунок 14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70" y="488696"/>
            <a:ext cx="4446752" cy="5388576"/>
          </a:xfrm>
          <a:prstGeom prst="rect">
            <a:avLst/>
          </a:prstGeom>
        </p:spPr>
      </p:pic>
      <p:sp>
        <p:nvSpPr>
          <p:cNvPr id="37" name="bg object 46"/>
          <p:cNvSpPr/>
          <p:nvPr/>
        </p:nvSpPr>
        <p:spPr>
          <a:xfrm>
            <a:off x="0" y="1"/>
            <a:ext cx="12192000" cy="825052"/>
          </a:xfrm>
          <a:custGeom>
            <a:avLst/>
            <a:gdLst/>
            <a:ahLst/>
            <a:cxnLst/>
            <a:rect l="l" t="t" r="r" b="b"/>
            <a:pathLst>
              <a:path w="20104100" h="1341120">
                <a:moveTo>
                  <a:pt x="20104099" y="0"/>
                </a:moveTo>
                <a:lnTo>
                  <a:pt x="0" y="0"/>
                </a:lnTo>
                <a:lnTo>
                  <a:pt x="0" y="1340608"/>
                </a:lnTo>
                <a:lnTo>
                  <a:pt x="20104099" y="1340608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46AF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608" y="7429"/>
            <a:ext cx="1595680" cy="90772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A6FFE1B-8AF4-61BB-55F6-179DEE6888D7}"/>
              </a:ext>
            </a:extLst>
          </p:cNvPr>
          <p:cNvSpPr txBox="1"/>
          <p:nvPr/>
        </p:nvSpPr>
        <p:spPr bwMode="auto">
          <a:xfrm>
            <a:off x="426728" y="260900"/>
            <a:ext cx="854959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ru-RU"/>
            </a:defPPr>
            <a:lvl1pPr>
              <a:defRPr sz="2133" b="1">
                <a:solidFill>
                  <a:srgbClr val="3B74AF"/>
                </a:solidFill>
                <a:latin typeface="DIN Pro Bold" panose="020B0604020202020204" charset="0"/>
                <a:ea typeface="Tahoma"/>
                <a:cs typeface="DIN Pro Bold" panose="020B0604020202020204" charset="0"/>
              </a:defRPr>
            </a:lvl1pPr>
          </a:lstStyle>
          <a:p>
            <a:r>
              <a:rPr lang="ru-RU" sz="24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АНАЛОГИ И КОНКУРЕНТЫ</a:t>
            </a:r>
            <a:endParaRPr lang="ru-RU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5215890" y="898641"/>
            <a:ext cx="6812226" cy="260084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/>
              <a:t>Основным конкурентом данной мировой инновации является использование разработчиков составов для ручного перебора данных при экспериментах, что неэффективно ни по скорости, ни по возможности массовой разработки, ни по полному перебору вариантов.</a:t>
            </a:r>
            <a:br>
              <a:rPr lang="ru-RU" dirty="0" smtClean="0"/>
            </a:br>
            <a:r>
              <a:rPr lang="ru-RU" dirty="0" smtClean="0"/>
              <a:t>Среди возможных конкурентов рассматривается </a:t>
            </a:r>
            <a:r>
              <a:rPr lang="en-US" dirty="0" err="1" smtClean="0"/>
              <a:t>Polimer</a:t>
            </a:r>
            <a:r>
              <a:rPr lang="en-US" dirty="0" smtClean="0"/>
              <a:t> AI</a:t>
            </a:r>
            <a:r>
              <a:rPr lang="ru-RU" dirty="0" smtClean="0"/>
              <a:t>, созданный при помощи венгерской компании </a:t>
            </a:r>
            <a:r>
              <a:rPr lang="en-US" dirty="0" err="1" smtClean="0"/>
              <a:t>Cxemacon</a:t>
            </a:r>
            <a:r>
              <a:rPr lang="ru-RU" dirty="0" smtClean="0"/>
              <a:t> и работающий исключительно с </a:t>
            </a:r>
            <a:r>
              <a:rPr lang="ru-RU" dirty="0" err="1" smtClean="0"/>
              <a:t>бензольными</a:t>
            </a:r>
            <a:r>
              <a:rPr lang="ru-RU" dirty="0" smtClean="0"/>
              <a:t> кольцами и пентагонами. </a:t>
            </a:r>
            <a:endParaRPr lang="ru-RU" dirty="0"/>
          </a:p>
        </p:txBody>
      </p:sp>
      <p:sp>
        <p:nvSpPr>
          <p:cNvPr id="34" name="Прямоугольник 33"/>
          <p:cNvSpPr/>
          <p:nvPr/>
        </p:nvSpPr>
        <p:spPr>
          <a:xfrm>
            <a:off x="131814" y="3499485"/>
            <a:ext cx="7273209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Преимущества </a:t>
            </a:r>
            <a:r>
              <a:rPr lang="ru-RU" sz="3200" i="1" dirty="0" smtClean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над конкурентами:</a:t>
            </a:r>
            <a:endParaRPr lang="ru-RU" sz="3200" i="1" dirty="0">
              <a:solidFill>
                <a:srgbClr val="FF7C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dirty="0" smtClean="0">
                <a:solidFill>
                  <a:srgbClr val="002060"/>
                </a:solidFill>
              </a:rPr>
              <a:t>· Работа с большим объемом входных данных.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ru-RU" dirty="0" smtClean="0">
                <a:solidFill>
                  <a:srgbClr val="002060"/>
                </a:solidFill>
              </a:rPr>
              <a:t>· Надежность и простота использования.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ru-RU" dirty="0" smtClean="0">
                <a:solidFill>
                  <a:srgbClr val="002060"/>
                </a:solidFill>
              </a:rPr>
              <a:t>· Возможность прогнозирования сложных структур с добавлением </a:t>
            </a:r>
            <a:r>
              <a:rPr lang="ru-RU" dirty="0" err="1" smtClean="0">
                <a:solidFill>
                  <a:srgbClr val="002060"/>
                </a:solidFill>
              </a:rPr>
              <a:t>аддитивов</a:t>
            </a:r>
            <a:r>
              <a:rPr lang="ru-RU" dirty="0" smtClean="0">
                <a:solidFill>
                  <a:srgbClr val="002060"/>
                </a:solidFill>
              </a:rPr>
              <a:t>, модификаторов, стабилизаторов, пластификаторов.</a:t>
            </a:r>
          </a:p>
          <a:p>
            <a:r>
              <a:rPr lang="ru-RU" dirty="0" smtClean="0">
                <a:solidFill>
                  <a:srgbClr val="002060"/>
                </a:solidFill>
              </a:rPr>
              <a:t>· Учет влияния температуры и давления на время проведения реакции и полученный результат.</a:t>
            </a:r>
          </a:p>
          <a:p>
            <a:r>
              <a:rPr lang="ru-RU" dirty="0" smtClean="0">
                <a:solidFill>
                  <a:srgbClr val="002060"/>
                </a:solidFill>
              </a:rPr>
              <a:t>· Защита и надежность данных модели, а также полученных результатов прогнозирования</a:t>
            </a:r>
          </a:p>
          <a:p>
            <a:r>
              <a:rPr lang="ru-RU" dirty="0" smtClean="0">
                <a:solidFill>
                  <a:srgbClr val="002060"/>
                </a:solidFill>
              </a:rPr>
              <a:t>· Возможность расширения для работы со всей полиолефиновой группой полимеров</a:t>
            </a:r>
            <a:endParaRPr lang="ru-R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2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2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 rot="5400000">
            <a:off x="10418636" y="1727646"/>
            <a:ext cx="3501008" cy="45719"/>
            <a:chOff x="0" y="616563"/>
            <a:chExt cx="2624903" cy="248953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16563"/>
              <a:ext cx="1294463" cy="248953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16563"/>
              <a:ext cx="1294463" cy="248953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16563"/>
              <a:ext cx="1294463" cy="248953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16563"/>
              <a:ext cx="1294463" cy="248953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16563"/>
              <a:ext cx="1294463" cy="248953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</p:grp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64" y="5182250"/>
            <a:ext cx="1521695" cy="1199078"/>
          </a:xfrm>
          <a:prstGeom prst="rect">
            <a:avLst/>
          </a:prstGeom>
        </p:spPr>
      </p:pic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z="1400" smtClean="0">
                <a:solidFill>
                  <a:srgbClr val="1342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ru-RU" sz="1400" dirty="0">
              <a:solidFill>
                <a:srgbClr val="13427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7" name="Рисунок 7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664" y="1470713"/>
            <a:ext cx="2395212" cy="3986715"/>
          </a:xfrm>
          <a:prstGeom prst="rect">
            <a:avLst/>
          </a:prstGeom>
        </p:spPr>
      </p:pic>
      <p:pic>
        <p:nvPicPr>
          <p:cNvPr id="144" name="Рисунок 14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70" y="488696"/>
            <a:ext cx="4446752" cy="5388576"/>
          </a:xfrm>
          <a:prstGeom prst="rect">
            <a:avLst/>
          </a:prstGeom>
        </p:spPr>
      </p:pic>
      <p:sp>
        <p:nvSpPr>
          <p:cNvPr id="37" name="bg object 46"/>
          <p:cNvSpPr/>
          <p:nvPr/>
        </p:nvSpPr>
        <p:spPr>
          <a:xfrm>
            <a:off x="0" y="1"/>
            <a:ext cx="12192000" cy="825052"/>
          </a:xfrm>
          <a:custGeom>
            <a:avLst/>
            <a:gdLst/>
            <a:ahLst/>
            <a:cxnLst/>
            <a:rect l="l" t="t" r="r" b="b"/>
            <a:pathLst>
              <a:path w="20104100" h="1341120">
                <a:moveTo>
                  <a:pt x="20104099" y="0"/>
                </a:moveTo>
                <a:lnTo>
                  <a:pt x="0" y="0"/>
                </a:lnTo>
                <a:lnTo>
                  <a:pt x="0" y="1340608"/>
                </a:lnTo>
                <a:lnTo>
                  <a:pt x="20104099" y="1340608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46AF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608" y="7429"/>
            <a:ext cx="1595680" cy="90772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A6FFE1B-8AF4-61BB-55F6-179DEE6888D7}"/>
              </a:ext>
            </a:extLst>
          </p:cNvPr>
          <p:cNvSpPr txBox="1"/>
          <p:nvPr/>
        </p:nvSpPr>
        <p:spPr bwMode="auto">
          <a:xfrm>
            <a:off x="426728" y="260900"/>
            <a:ext cx="854959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ru-RU"/>
            </a:defPPr>
            <a:lvl1pPr>
              <a:defRPr sz="2133" b="1">
                <a:solidFill>
                  <a:srgbClr val="3B74AF"/>
                </a:solidFill>
                <a:latin typeface="DIN Pro Bold" panose="020B0604020202020204" charset="0"/>
                <a:ea typeface="Tahoma"/>
                <a:cs typeface="DIN Pro Bold" panose="020B0604020202020204" charset="0"/>
              </a:defRPr>
            </a:lvl1pPr>
          </a:lstStyle>
          <a:p>
            <a:r>
              <a:rPr lang="ru-RU" sz="24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РЫНОК И ПОТРЕБИТЕЛЬ</a:t>
            </a:r>
            <a:endParaRPr lang="ru-RU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5485591" y="1085950"/>
            <a:ext cx="6432183" cy="2052983"/>
          </a:xfrm>
          <a:prstGeom prst="rect">
            <a:avLst/>
          </a:prstGeom>
          <a:solidFill>
            <a:srgbClr val="FBB3C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5904963" y="1113980"/>
            <a:ext cx="566527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Применение:</a:t>
            </a:r>
          </a:p>
          <a:p>
            <a:r>
              <a:rPr lang="ru-RU" sz="2400" dirty="0" smtClean="0"/>
              <a:t>Использование в промышленных лабораториях и исследовательских центрах для ускорения получения результатов новых исследований</a:t>
            </a:r>
            <a:endParaRPr lang="ru-RU" sz="2400" dirty="0"/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426728" y="3330154"/>
            <a:ext cx="7397464" cy="2512035"/>
          </a:xfrm>
          <a:prstGeom prst="roundRect">
            <a:avLst/>
          </a:prstGeom>
          <a:ln w="57150">
            <a:solidFill>
              <a:srgbClr val="FBB3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757066" y="3358115"/>
            <a:ext cx="664795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Потребители:</a:t>
            </a:r>
          </a:p>
          <a:p>
            <a:r>
              <a:rPr lang="ru-RU" sz="2400" dirty="0" smtClean="0"/>
              <a:t>Производства переработки полипропилена</a:t>
            </a:r>
            <a:br>
              <a:rPr lang="ru-RU" sz="2400" dirty="0" smtClean="0"/>
            </a:br>
            <a:r>
              <a:rPr lang="ru-RU" sz="2400" dirty="0" smtClean="0"/>
              <a:t>Исследовательские центры и технопарки</a:t>
            </a:r>
            <a:br>
              <a:rPr lang="ru-RU" sz="2400" dirty="0" smtClean="0"/>
            </a:br>
            <a:r>
              <a:rPr lang="ru-RU" sz="2400" dirty="0" err="1" smtClean="0"/>
              <a:t>Стартап</a:t>
            </a:r>
            <a:r>
              <a:rPr lang="ru-RU" sz="2400" dirty="0"/>
              <a:t>-</a:t>
            </a:r>
            <a:r>
              <a:rPr lang="ru-RU" sz="2400" dirty="0" smtClean="0"/>
              <a:t>проекты, связанные с производством продукции из полипропилена или новыми его рецептурами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8071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5FDB190E-7641-4AE1-A901-8EA894E0D6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121" y="5125299"/>
            <a:ext cx="1414145" cy="131298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2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 rot="5400000">
            <a:off x="10418636" y="1727646"/>
            <a:ext cx="3501008" cy="45719"/>
            <a:chOff x="0" y="616563"/>
            <a:chExt cx="2624903" cy="248953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16563"/>
              <a:ext cx="1294463" cy="248953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16563"/>
              <a:ext cx="1294463" cy="248953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16563"/>
              <a:ext cx="1294463" cy="248953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16563"/>
              <a:ext cx="1294463" cy="248953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16563"/>
              <a:ext cx="1294463" cy="248953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</p:grp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z="1400" smtClean="0">
                <a:solidFill>
                  <a:srgbClr val="1342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ru-RU" sz="1400" dirty="0">
              <a:solidFill>
                <a:srgbClr val="13427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7" name="Рисунок 7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664" y="1470713"/>
            <a:ext cx="2096293" cy="3986715"/>
          </a:xfrm>
          <a:prstGeom prst="rect">
            <a:avLst/>
          </a:prstGeom>
        </p:spPr>
      </p:pic>
      <p:grpSp>
        <p:nvGrpSpPr>
          <p:cNvPr id="145" name="Группа 144"/>
          <p:cNvGrpSpPr/>
          <p:nvPr/>
        </p:nvGrpSpPr>
        <p:grpSpPr>
          <a:xfrm>
            <a:off x="4845076" y="3861163"/>
            <a:ext cx="7155580" cy="1508204"/>
            <a:chOff x="5463637" y="1297630"/>
            <a:chExt cx="5719419" cy="1080000"/>
          </a:xfrm>
        </p:grpSpPr>
        <p:pic>
          <p:nvPicPr>
            <p:cNvPr id="139" name="Рисунок 138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23" r="20537"/>
            <a:stretch/>
          </p:blipFill>
          <p:spPr>
            <a:xfrm>
              <a:off x="7236491" y="1297630"/>
              <a:ext cx="1656184" cy="1080000"/>
            </a:xfrm>
            <a:prstGeom prst="rect">
              <a:avLst/>
            </a:prstGeom>
          </p:spPr>
        </p:pic>
        <p:pic>
          <p:nvPicPr>
            <p:cNvPr id="141" name="Рисунок 140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23" r="20537"/>
            <a:stretch/>
          </p:blipFill>
          <p:spPr>
            <a:xfrm>
              <a:off x="8857962" y="1297630"/>
              <a:ext cx="1656184" cy="1080000"/>
            </a:xfrm>
            <a:prstGeom prst="rect">
              <a:avLst/>
            </a:prstGeom>
          </p:spPr>
        </p:pic>
        <p:pic>
          <p:nvPicPr>
            <p:cNvPr id="108" name="Рисунок 10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0376" y="1406607"/>
              <a:ext cx="992449" cy="878483"/>
            </a:xfrm>
            <a:prstGeom prst="rect">
              <a:avLst/>
            </a:prstGeom>
          </p:spPr>
        </p:pic>
        <p:pic>
          <p:nvPicPr>
            <p:cNvPr id="136" name="Рисунок 135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573"/>
            <a:stretch/>
          </p:blipFill>
          <p:spPr>
            <a:xfrm>
              <a:off x="5463637" y="1297630"/>
              <a:ext cx="776379" cy="1080000"/>
            </a:xfrm>
            <a:prstGeom prst="rect">
              <a:avLst/>
            </a:prstGeom>
          </p:spPr>
        </p:pic>
        <p:pic>
          <p:nvPicPr>
            <p:cNvPr id="137" name="Рисунок 136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093"/>
            <a:stretch/>
          </p:blipFill>
          <p:spPr>
            <a:xfrm>
              <a:off x="10514146" y="1297630"/>
              <a:ext cx="668910" cy="1080000"/>
            </a:xfrm>
            <a:prstGeom prst="rect">
              <a:avLst/>
            </a:prstGeom>
          </p:spPr>
        </p:pic>
        <p:pic>
          <p:nvPicPr>
            <p:cNvPr id="138" name="Рисунок 137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23" r="20537"/>
            <a:stretch/>
          </p:blipFill>
          <p:spPr>
            <a:xfrm>
              <a:off x="6240016" y="1297630"/>
              <a:ext cx="1656184" cy="1080000"/>
            </a:xfrm>
            <a:prstGeom prst="rect">
              <a:avLst/>
            </a:prstGeom>
          </p:spPr>
        </p:pic>
      </p:grpSp>
      <p:pic>
        <p:nvPicPr>
          <p:cNvPr id="144" name="Рисунок 14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70" y="488696"/>
            <a:ext cx="4446752" cy="538857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D55455A-349B-4AC6-804B-969B4A44BC08}"/>
              </a:ext>
            </a:extLst>
          </p:cNvPr>
          <p:cNvSpPr txBox="1"/>
          <p:nvPr/>
        </p:nvSpPr>
        <p:spPr>
          <a:xfrm>
            <a:off x="681609" y="6021288"/>
            <a:ext cx="4262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 наличии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интеллектуальная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собственность.</a:t>
            </a:r>
          </a:p>
        </p:txBody>
      </p:sp>
      <p:sp>
        <p:nvSpPr>
          <p:cNvPr id="45" name="bg object 46"/>
          <p:cNvSpPr/>
          <p:nvPr/>
        </p:nvSpPr>
        <p:spPr>
          <a:xfrm>
            <a:off x="0" y="1"/>
            <a:ext cx="12192000" cy="825052"/>
          </a:xfrm>
          <a:custGeom>
            <a:avLst/>
            <a:gdLst/>
            <a:ahLst/>
            <a:cxnLst/>
            <a:rect l="l" t="t" r="r" b="b"/>
            <a:pathLst>
              <a:path w="20104100" h="1341120">
                <a:moveTo>
                  <a:pt x="20104099" y="0"/>
                </a:moveTo>
                <a:lnTo>
                  <a:pt x="0" y="0"/>
                </a:lnTo>
                <a:lnTo>
                  <a:pt x="0" y="1340608"/>
                </a:lnTo>
                <a:lnTo>
                  <a:pt x="20104099" y="1340608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46AF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pic>
        <p:nvPicPr>
          <p:cNvPr id="46" name="Рисунок 4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608" y="7429"/>
            <a:ext cx="1595680" cy="90772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A6FFE1B-8AF4-61BB-55F6-179DEE6888D7}"/>
              </a:ext>
            </a:extLst>
          </p:cNvPr>
          <p:cNvSpPr txBox="1"/>
          <p:nvPr/>
        </p:nvSpPr>
        <p:spPr bwMode="auto">
          <a:xfrm>
            <a:off x="426728" y="260900"/>
            <a:ext cx="854959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ru-RU"/>
            </a:defPPr>
            <a:lvl1pPr>
              <a:defRPr sz="2133" b="1">
                <a:solidFill>
                  <a:srgbClr val="3B74AF"/>
                </a:solidFill>
                <a:latin typeface="DIN Pro Bold" panose="020B0604020202020204" charset="0"/>
                <a:ea typeface="Tahoma"/>
                <a:cs typeface="DIN Pro Bold" panose="020B0604020202020204" charset="0"/>
              </a:defRPr>
            </a:lvl1pPr>
          </a:lstStyle>
          <a:p>
            <a:r>
              <a:rPr lang="ru-RU" sz="24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ПЛАН РЕАЛИЗАЦИИ ПРОЕКТА</a:t>
            </a:r>
            <a:endParaRPr lang="ru-RU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64" y="5182250"/>
            <a:ext cx="1521695" cy="1199078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4070" y="822697"/>
            <a:ext cx="4243365" cy="6035303"/>
          </a:xfrm>
          <a:prstGeom prst="rect">
            <a:avLst/>
          </a:prstGeom>
        </p:spPr>
      </p:pic>
      <p:sp>
        <p:nvSpPr>
          <p:cNvPr id="29" name="Прямоугольник 28"/>
          <p:cNvSpPr/>
          <p:nvPr/>
        </p:nvSpPr>
        <p:spPr>
          <a:xfrm>
            <a:off x="5508197" y="1285495"/>
            <a:ext cx="493841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 Для создания </a:t>
            </a:r>
            <a:r>
              <a:rPr lang="ru-RU" dirty="0" err="1" smtClean="0"/>
              <a:t>нейросети</a:t>
            </a:r>
            <a:r>
              <a:rPr lang="ru-RU" dirty="0" smtClean="0"/>
              <a:t> для прогнозирования свойств полипропилена необходимо предварительно обучить программу по сборке из 1000 разнообразных тестовых данных( с учетом всех добавок).</a:t>
            </a:r>
          </a:p>
        </p:txBody>
      </p:sp>
      <p:sp>
        <p:nvSpPr>
          <p:cNvPr id="30" name="Овал 29"/>
          <p:cNvSpPr/>
          <p:nvPr/>
        </p:nvSpPr>
        <p:spPr>
          <a:xfrm>
            <a:off x="5209322" y="1559815"/>
            <a:ext cx="206366" cy="216024"/>
          </a:xfrm>
          <a:prstGeom prst="ellipse">
            <a:avLst/>
          </a:prstGeom>
          <a:solidFill>
            <a:srgbClr val="FBB3C1"/>
          </a:solidFill>
          <a:ln>
            <a:solidFill>
              <a:srgbClr val="FBB3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/>
          <p:cNvSpPr/>
          <p:nvPr/>
        </p:nvSpPr>
        <p:spPr>
          <a:xfrm>
            <a:off x="5508197" y="2837971"/>
            <a:ext cx="48572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Необходимый для проведения экспериментов и создания </a:t>
            </a:r>
            <a:r>
              <a:rPr lang="ru-RU" dirty="0" err="1" smtClean="0"/>
              <a:t>нейросети</a:t>
            </a:r>
            <a:r>
              <a:rPr lang="ru-RU" dirty="0" smtClean="0"/>
              <a:t> персонал уже имеется</a:t>
            </a:r>
            <a:endParaRPr lang="ru-RU" dirty="0"/>
          </a:p>
        </p:txBody>
      </p:sp>
      <p:sp>
        <p:nvSpPr>
          <p:cNvPr id="32" name="Овал 31"/>
          <p:cNvSpPr/>
          <p:nvPr/>
        </p:nvSpPr>
        <p:spPr>
          <a:xfrm>
            <a:off x="5231989" y="2536665"/>
            <a:ext cx="206366" cy="216024"/>
          </a:xfrm>
          <a:prstGeom prst="ellipse">
            <a:avLst/>
          </a:prstGeom>
          <a:solidFill>
            <a:srgbClr val="FBB3C1"/>
          </a:solidFill>
          <a:ln>
            <a:solidFill>
              <a:srgbClr val="FBB3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/>
        </p:nvSpPr>
        <p:spPr>
          <a:xfrm>
            <a:off x="5328441" y="4013348"/>
            <a:ext cx="47566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b="1" i="1" dirty="0" smtClean="0">
                <a:solidFill>
                  <a:srgbClr val="00B0F0"/>
                </a:solidFill>
              </a:rPr>
              <a:t>Необходимое оборудование:</a:t>
            </a:r>
          </a:p>
          <a:p>
            <a:pPr lvl="0"/>
            <a:r>
              <a:rPr lang="ru-RU" dirty="0" smtClean="0"/>
              <a:t>Компьютер, сервер для поддержки проекта и сервер вычислительной мощности для обучения ИИ</a:t>
            </a:r>
            <a:endParaRPr lang="ru-RU" dirty="0" smtClean="0">
              <a:solidFill>
                <a:srgbClr val="00B0F0"/>
              </a:solidFill>
            </a:endParaRPr>
          </a:p>
        </p:txBody>
      </p:sp>
      <p:grpSp>
        <p:nvGrpSpPr>
          <p:cNvPr id="34" name="Группа 33"/>
          <p:cNvGrpSpPr/>
          <p:nvPr/>
        </p:nvGrpSpPr>
        <p:grpSpPr>
          <a:xfrm>
            <a:off x="4654686" y="1179828"/>
            <a:ext cx="7155580" cy="2591235"/>
            <a:chOff x="5463637" y="1297630"/>
            <a:chExt cx="5719419" cy="1080000"/>
          </a:xfrm>
        </p:grpSpPr>
        <p:pic>
          <p:nvPicPr>
            <p:cNvPr id="35" name="Рисунок 34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23" r="20537"/>
            <a:stretch/>
          </p:blipFill>
          <p:spPr>
            <a:xfrm>
              <a:off x="7236491" y="1297630"/>
              <a:ext cx="1656184" cy="1080000"/>
            </a:xfrm>
            <a:prstGeom prst="rect">
              <a:avLst/>
            </a:prstGeom>
          </p:spPr>
        </p:pic>
        <p:pic>
          <p:nvPicPr>
            <p:cNvPr id="36" name="Рисунок 35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23" r="20537"/>
            <a:stretch/>
          </p:blipFill>
          <p:spPr>
            <a:xfrm>
              <a:off x="8857962" y="1297630"/>
              <a:ext cx="1656184" cy="1080000"/>
            </a:xfrm>
            <a:prstGeom prst="rect">
              <a:avLst/>
            </a:prstGeom>
          </p:spPr>
        </p:pic>
        <p:pic>
          <p:nvPicPr>
            <p:cNvPr id="38" name="Рисунок 3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11380" y="1403264"/>
              <a:ext cx="992449" cy="878483"/>
            </a:xfrm>
            <a:prstGeom prst="rect">
              <a:avLst/>
            </a:prstGeom>
          </p:spPr>
        </p:pic>
        <p:pic>
          <p:nvPicPr>
            <p:cNvPr id="39" name="Рисунок 38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573"/>
            <a:stretch/>
          </p:blipFill>
          <p:spPr>
            <a:xfrm>
              <a:off x="5463637" y="1297630"/>
              <a:ext cx="776379" cy="1080000"/>
            </a:xfrm>
            <a:prstGeom prst="rect">
              <a:avLst/>
            </a:prstGeom>
          </p:spPr>
        </p:pic>
        <p:pic>
          <p:nvPicPr>
            <p:cNvPr id="41" name="Рисунок 40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093"/>
            <a:stretch/>
          </p:blipFill>
          <p:spPr>
            <a:xfrm>
              <a:off x="10514146" y="1297630"/>
              <a:ext cx="668910" cy="1080000"/>
            </a:xfrm>
            <a:prstGeom prst="rect">
              <a:avLst/>
            </a:prstGeom>
          </p:spPr>
        </p:pic>
        <p:pic>
          <p:nvPicPr>
            <p:cNvPr id="42" name="Рисунок 41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23" r="20537"/>
            <a:stretch/>
          </p:blipFill>
          <p:spPr>
            <a:xfrm>
              <a:off x="6240016" y="1297630"/>
              <a:ext cx="1656184" cy="10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289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5FDB190E-7641-4AE1-A901-8EA894E0D6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121" y="5125299"/>
            <a:ext cx="1414145" cy="131298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2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 rot="5400000">
            <a:off x="10418636" y="1727646"/>
            <a:ext cx="3501008" cy="45719"/>
            <a:chOff x="0" y="616563"/>
            <a:chExt cx="2624903" cy="248953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16563"/>
              <a:ext cx="1294463" cy="248953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16563"/>
              <a:ext cx="1294463" cy="248953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16563"/>
              <a:ext cx="1294463" cy="248953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16563"/>
              <a:ext cx="1294463" cy="248953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16563"/>
              <a:ext cx="1294463" cy="248953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</p:grp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z="1400" smtClean="0">
                <a:solidFill>
                  <a:srgbClr val="1342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ru-RU" sz="1400" dirty="0">
              <a:solidFill>
                <a:srgbClr val="13427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7" name="Рисунок 7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030" y="1503471"/>
            <a:ext cx="2395212" cy="3986715"/>
          </a:xfrm>
          <a:prstGeom prst="rect">
            <a:avLst/>
          </a:prstGeom>
        </p:spPr>
      </p:pic>
      <p:grpSp>
        <p:nvGrpSpPr>
          <p:cNvPr id="145" name="Группа 144"/>
          <p:cNvGrpSpPr/>
          <p:nvPr/>
        </p:nvGrpSpPr>
        <p:grpSpPr>
          <a:xfrm>
            <a:off x="4759816" y="1029010"/>
            <a:ext cx="7243219" cy="4124700"/>
            <a:chOff x="5463637" y="1297630"/>
            <a:chExt cx="5719419" cy="1080000"/>
          </a:xfrm>
        </p:grpSpPr>
        <p:pic>
          <p:nvPicPr>
            <p:cNvPr id="139" name="Рисунок 138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23" r="20537"/>
            <a:stretch/>
          </p:blipFill>
          <p:spPr>
            <a:xfrm>
              <a:off x="7236491" y="1297630"/>
              <a:ext cx="1656184" cy="1080000"/>
            </a:xfrm>
            <a:prstGeom prst="rect">
              <a:avLst/>
            </a:prstGeom>
          </p:spPr>
        </p:pic>
        <p:pic>
          <p:nvPicPr>
            <p:cNvPr id="141" name="Рисунок 140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23" r="20537"/>
            <a:stretch/>
          </p:blipFill>
          <p:spPr>
            <a:xfrm>
              <a:off x="8857962" y="1297630"/>
              <a:ext cx="1656184" cy="1080000"/>
            </a:xfrm>
            <a:prstGeom prst="rect">
              <a:avLst/>
            </a:prstGeom>
          </p:spPr>
        </p:pic>
        <p:pic>
          <p:nvPicPr>
            <p:cNvPr id="108" name="Рисунок 10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5899" y="1640853"/>
              <a:ext cx="992449" cy="386115"/>
            </a:xfrm>
            <a:prstGeom prst="rect">
              <a:avLst/>
            </a:prstGeom>
          </p:spPr>
        </p:pic>
        <p:pic>
          <p:nvPicPr>
            <p:cNvPr id="136" name="Рисунок 135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573"/>
            <a:stretch/>
          </p:blipFill>
          <p:spPr>
            <a:xfrm>
              <a:off x="5463637" y="1297630"/>
              <a:ext cx="776379" cy="1080000"/>
            </a:xfrm>
            <a:prstGeom prst="rect">
              <a:avLst/>
            </a:prstGeom>
          </p:spPr>
        </p:pic>
        <p:pic>
          <p:nvPicPr>
            <p:cNvPr id="137" name="Рисунок 136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093"/>
            <a:stretch/>
          </p:blipFill>
          <p:spPr>
            <a:xfrm>
              <a:off x="10514146" y="1297630"/>
              <a:ext cx="668910" cy="1080000"/>
            </a:xfrm>
            <a:prstGeom prst="rect">
              <a:avLst/>
            </a:prstGeom>
          </p:spPr>
        </p:pic>
        <p:pic>
          <p:nvPicPr>
            <p:cNvPr id="138" name="Рисунок 137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23" r="20537"/>
            <a:stretch/>
          </p:blipFill>
          <p:spPr>
            <a:xfrm>
              <a:off x="6240016" y="1297630"/>
              <a:ext cx="1656184" cy="1080000"/>
            </a:xfrm>
            <a:prstGeom prst="rect">
              <a:avLst/>
            </a:prstGeom>
          </p:spPr>
        </p:pic>
        <p:sp>
          <p:nvSpPr>
            <p:cNvPr id="116" name="TextBox 115"/>
            <p:cNvSpPr txBox="1"/>
            <p:nvPr/>
          </p:nvSpPr>
          <p:spPr>
            <a:xfrm>
              <a:off x="5789622" y="1363440"/>
              <a:ext cx="36250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ru-RU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44" name="Рисунок 14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70" y="488696"/>
            <a:ext cx="4446752" cy="538857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D55455A-349B-4AC6-804B-969B4A44BC08}"/>
              </a:ext>
            </a:extLst>
          </p:cNvPr>
          <p:cNvSpPr txBox="1"/>
          <p:nvPr/>
        </p:nvSpPr>
        <p:spPr>
          <a:xfrm>
            <a:off x="681609" y="6021288"/>
            <a:ext cx="4262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 наличии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интеллектуальная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собственность.</a:t>
            </a:r>
          </a:p>
        </p:txBody>
      </p:sp>
      <p:sp>
        <p:nvSpPr>
          <p:cNvPr id="45" name="bg object 46"/>
          <p:cNvSpPr/>
          <p:nvPr/>
        </p:nvSpPr>
        <p:spPr>
          <a:xfrm>
            <a:off x="0" y="1"/>
            <a:ext cx="12192000" cy="825052"/>
          </a:xfrm>
          <a:custGeom>
            <a:avLst/>
            <a:gdLst/>
            <a:ahLst/>
            <a:cxnLst/>
            <a:rect l="l" t="t" r="r" b="b"/>
            <a:pathLst>
              <a:path w="20104100" h="1341120">
                <a:moveTo>
                  <a:pt x="20104099" y="0"/>
                </a:moveTo>
                <a:lnTo>
                  <a:pt x="0" y="0"/>
                </a:lnTo>
                <a:lnTo>
                  <a:pt x="0" y="1340608"/>
                </a:lnTo>
                <a:lnTo>
                  <a:pt x="20104099" y="1340608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46AF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pic>
        <p:nvPicPr>
          <p:cNvPr id="46" name="Рисунок 4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608" y="7429"/>
            <a:ext cx="1595680" cy="90772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A6FFE1B-8AF4-61BB-55F6-179DEE6888D7}"/>
              </a:ext>
            </a:extLst>
          </p:cNvPr>
          <p:cNvSpPr txBox="1"/>
          <p:nvPr/>
        </p:nvSpPr>
        <p:spPr bwMode="auto">
          <a:xfrm>
            <a:off x="426728" y="260900"/>
            <a:ext cx="854959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ru-RU"/>
            </a:defPPr>
            <a:lvl1pPr>
              <a:defRPr sz="2133" b="1">
                <a:solidFill>
                  <a:srgbClr val="3B74AF"/>
                </a:solidFill>
                <a:latin typeface="DIN Pro Bold" panose="020B0604020202020204" charset="0"/>
                <a:ea typeface="Tahoma"/>
                <a:cs typeface="DIN Pro Bold" panose="020B0604020202020204" charset="0"/>
              </a:defRPr>
            </a:lvl1pPr>
          </a:lstStyle>
          <a:p>
            <a:r>
              <a:rPr lang="ru-RU" sz="24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ИМЕЮЩИЙСЯ ЗАДЕЛ ПО ПРОЕКТУ</a:t>
            </a:r>
            <a:endParaRPr lang="ru-RU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64" y="5182250"/>
            <a:ext cx="1521695" cy="119907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175376" y="951681"/>
            <a:ext cx="588495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b="1" i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ru-RU" dirty="0"/>
              <a:t>организационный – (есть бизнес-план проекта, есть рекомендательные письма от ВУЗ);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ru-RU" dirty="0"/>
              <a:t>кадровый – (руководитель проекта и веб разработчик Казаков А.А., </a:t>
            </a:r>
            <a:r>
              <a:rPr lang="ru-RU" dirty="0" err="1"/>
              <a:t>бэкенд</a:t>
            </a:r>
            <a:r>
              <a:rPr lang="ru-RU" dirty="0"/>
              <a:t> разработчик Нечаев Р.В. );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ru-RU" dirty="0"/>
              <a:t>материальный – (тестовые версии необученных нейронных сетей).</a:t>
            </a:r>
          </a:p>
          <a:p>
            <a:pPr marL="285750" indent="-285750">
              <a:buFont typeface="Wingdings" pitchFamily="2" charset="2"/>
              <a:buChar char="v"/>
            </a:pPr>
            <a:endParaRPr lang="ru-RU" dirty="0"/>
          </a:p>
          <a:p>
            <a:r>
              <a:rPr lang="ru-RU" dirty="0"/>
              <a:t>Проект соответствует научным и(или) научно-техническим приоритетам: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ru-RU" dirty="0"/>
              <a:t>- региона заявителя – О ПРИОРИТЕТНЫХ НАПРАВЛЕНИЯХ РАЗВИТИЯ НАУКИ, ТЕХНОЛОГИЙ И ТЕХНИКИ В РЕСПУБЛИКЕ ТАТАРСТАН </a:t>
            </a:r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3313" y="774248"/>
            <a:ext cx="4331254" cy="609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3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64" y="5182250"/>
            <a:ext cx="1521695" cy="119907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2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 rot="5400000">
            <a:off x="10418636" y="1727646"/>
            <a:ext cx="3501008" cy="45719"/>
            <a:chOff x="0" y="616563"/>
            <a:chExt cx="2624903" cy="248953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16563"/>
              <a:ext cx="1294463" cy="248953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16563"/>
              <a:ext cx="1294463" cy="248953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16563"/>
              <a:ext cx="1294463" cy="248953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16563"/>
              <a:ext cx="1294463" cy="248953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16563"/>
              <a:ext cx="1294463" cy="248953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</p:grp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z="1400" smtClean="0">
                <a:solidFill>
                  <a:srgbClr val="1342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ru-RU" sz="1400" dirty="0">
              <a:solidFill>
                <a:srgbClr val="13427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7" name="Рисунок 7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747" y="1581475"/>
            <a:ext cx="2395212" cy="3986715"/>
          </a:xfrm>
          <a:prstGeom prst="rect">
            <a:avLst/>
          </a:prstGeom>
        </p:spPr>
      </p:pic>
      <p:pic>
        <p:nvPicPr>
          <p:cNvPr id="144" name="Рисунок 14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70" y="488696"/>
            <a:ext cx="4446752" cy="5388576"/>
          </a:xfrm>
          <a:prstGeom prst="rect">
            <a:avLst/>
          </a:prstGeom>
        </p:spPr>
      </p:pic>
      <p:sp>
        <p:nvSpPr>
          <p:cNvPr id="39" name="bg object 46"/>
          <p:cNvSpPr/>
          <p:nvPr/>
        </p:nvSpPr>
        <p:spPr>
          <a:xfrm>
            <a:off x="0" y="1"/>
            <a:ext cx="12192000" cy="825052"/>
          </a:xfrm>
          <a:custGeom>
            <a:avLst/>
            <a:gdLst/>
            <a:ahLst/>
            <a:cxnLst/>
            <a:rect l="l" t="t" r="r" b="b"/>
            <a:pathLst>
              <a:path w="20104100" h="1341120">
                <a:moveTo>
                  <a:pt x="20104099" y="0"/>
                </a:moveTo>
                <a:lnTo>
                  <a:pt x="0" y="0"/>
                </a:lnTo>
                <a:lnTo>
                  <a:pt x="0" y="1340608"/>
                </a:lnTo>
                <a:lnTo>
                  <a:pt x="20104099" y="1340608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46AF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pic>
        <p:nvPicPr>
          <p:cNvPr id="40" name="Рисунок 3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608" y="7429"/>
            <a:ext cx="1595680" cy="90772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2A6FFE1B-8AF4-61BB-55F6-179DEE6888D7}"/>
              </a:ext>
            </a:extLst>
          </p:cNvPr>
          <p:cNvSpPr txBox="1"/>
          <p:nvPr/>
        </p:nvSpPr>
        <p:spPr bwMode="auto">
          <a:xfrm>
            <a:off x="426728" y="260900"/>
            <a:ext cx="854959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ru-RU"/>
            </a:defPPr>
            <a:lvl1pPr>
              <a:defRPr sz="2133" b="1">
                <a:solidFill>
                  <a:srgbClr val="3B74AF"/>
                </a:solidFill>
                <a:latin typeface="DIN Pro Bold" panose="020B0604020202020204" charset="0"/>
                <a:ea typeface="Tahoma"/>
                <a:cs typeface="DIN Pro Bold" panose="020B0604020202020204" charset="0"/>
              </a:defRPr>
            </a:lvl1pPr>
          </a:lstStyle>
          <a:p>
            <a:r>
              <a:rPr lang="ru-RU" sz="24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КВАЛИФИКАЦИЯ ЗАЯВИТЕЛЯ</a:t>
            </a:r>
            <a:endParaRPr lang="ru-RU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5865362" y="969321"/>
            <a:ext cx="532859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 </a:t>
            </a:r>
            <a:r>
              <a:rPr lang="ru-RU" sz="2000" dirty="0" smtClean="0"/>
              <a:t>Образование:</a:t>
            </a:r>
          </a:p>
          <a:p>
            <a:r>
              <a:rPr lang="ru-RU" sz="2000" dirty="0" smtClean="0"/>
              <a:t>2 курс </a:t>
            </a:r>
            <a:r>
              <a:rPr lang="ru-RU" sz="2000" dirty="0" err="1" smtClean="0"/>
              <a:t>бакалавриата</a:t>
            </a:r>
            <a:r>
              <a:rPr lang="ru-RU" sz="2000" dirty="0" smtClean="0"/>
              <a:t> – специальность </a:t>
            </a:r>
            <a:r>
              <a:rPr lang="ru-RU" sz="2000" dirty="0" err="1" smtClean="0"/>
              <a:t>инноватика</a:t>
            </a:r>
            <a:r>
              <a:rPr lang="ru-RU" sz="2000" dirty="0" smtClean="0"/>
              <a:t> в химической технологии</a:t>
            </a:r>
          </a:p>
          <a:p>
            <a:r>
              <a:rPr lang="ru-RU" sz="2000" dirty="0" smtClean="0"/>
              <a:t>Диплом переквалификации по управлению </a:t>
            </a:r>
            <a:r>
              <a:rPr lang="ru-RU" sz="2000" dirty="0" err="1" smtClean="0"/>
              <a:t>инновационно</a:t>
            </a:r>
            <a:r>
              <a:rPr lang="ru-RU" sz="2000" dirty="0" smtClean="0"/>
              <a:t>- технологическими проектами</a:t>
            </a:r>
          </a:p>
          <a:p>
            <a:r>
              <a:rPr lang="ru-RU" sz="2000" dirty="0" smtClean="0"/>
              <a:t> Опыт работы:</a:t>
            </a:r>
          </a:p>
        </p:txBody>
      </p:sp>
      <p:sp>
        <p:nvSpPr>
          <p:cNvPr id="26" name="Овал 25"/>
          <p:cNvSpPr/>
          <p:nvPr/>
        </p:nvSpPr>
        <p:spPr>
          <a:xfrm>
            <a:off x="5585855" y="1032490"/>
            <a:ext cx="229033" cy="211943"/>
          </a:xfrm>
          <a:prstGeom prst="ellipse">
            <a:avLst/>
          </a:prstGeom>
          <a:solidFill>
            <a:srgbClr val="FBB3C1"/>
          </a:solidFill>
          <a:ln>
            <a:solidFill>
              <a:srgbClr val="FBB3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/>
        </p:nvSpPr>
        <p:spPr>
          <a:xfrm>
            <a:off x="6105634" y="2513021"/>
            <a:ext cx="48572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28" name="Овал 27"/>
          <p:cNvSpPr/>
          <p:nvPr/>
        </p:nvSpPr>
        <p:spPr>
          <a:xfrm flipV="1">
            <a:off x="5601175" y="2580742"/>
            <a:ext cx="229033" cy="233890"/>
          </a:xfrm>
          <a:prstGeom prst="ellipse">
            <a:avLst/>
          </a:prstGeom>
          <a:solidFill>
            <a:srgbClr val="FBB3C1"/>
          </a:solidFill>
          <a:ln>
            <a:solidFill>
              <a:srgbClr val="FBB3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/>
          <p:cNvSpPr/>
          <p:nvPr/>
        </p:nvSpPr>
        <p:spPr>
          <a:xfrm>
            <a:off x="5966456" y="2816625"/>
            <a:ext cx="441090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Программмирование</a:t>
            </a:r>
            <a:r>
              <a:rPr lang="ru-RU" sz="2000" dirty="0" smtClean="0"/>
              <a:t> </a:t>
            </a:r>
            <a:r>
              <a:rPr lang="ru-RU" sz="2000" dirty="0"/>
              <a:t>1.5 года</a:t>
            </a:r>
          </a:p>
          <a:p>
            <a:r>
              <a:rPr lang="ru-RU" sz="2000" dirty="0"/>
              <a:t>Единоличное ведение </a:t>
            </a:r>
            <a:r>
              <a:rPr lang="ru-RU" sz="2000" dirty="0" smtClean="0"/>
              <a:t>простых </a:t>
            </a:r>
            <a:r>
              <a:rPr lang="en-US" sz="2000" dirty="0" smtClean="0"/>
              <a:t>it</a:t>
            </a:r>
            <a:r>
              <a:rPr lang="ru-RU" sz="2000" dirty="0" smtClean="0"/>
              <a:t> </a:t>
            </a:r>
            <a:r>
              <a:rPr lang="ru-RU" sz="2000" dirty="0"/>
              <a:t>проектов без </a:t>
            </a:r>
            <a:r>
              <a:rPr lang="ru-RU" sz="2000" dirty="0" smtClean="0"/>
              <a:t>баз </a:t>
            </a:r>
            <a:r>
              <a:rPr lang="ru-RU" sz="2000" dirty="0"/>
              <a:t>данных </a:t>
            </a:r>
          </a:p>
          <a:p>
            <a:r>
              <a:rPr lang="ru-RU" sz="2000" dirty="0"/>
              <a:t>Опыт работы с тендерной </a:t>
            </a:r>
            <a:r>
              <a:rPr lang="ru-RU" sz="2000" dirty="0" smtClean="0"/>
              <a:t>документацией</a:t>
            </a:r>
          </a:p>
          <a:p>
            <a:r>
              <a:rPr lang="ru-RU" sz="2000" dirty="0" smtClean="0"/>
              <a:t>Опыт ведения бизнеса в посредничестве при получении банковских гарантий </a:t>
            </a:r>
            <a:endParaRPr lang="ru-RU" sz="2000" dirty="0"/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0" y="822775"/>
            <a:ext cx="4155434" cy="2755506"/>
          </a:xfrm>
          <a:prstGeom prst="rect">
            <a:avLst/>
          </a:prstGeom>
        </p:spPr>
      </p:pic>
      <p:pic>
        <p:nvPicPr>
          <p:cNvPr id="31" name="Рисунок 30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521" y="3578281"/>
            <a:ext cx="2083073" cy="3279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Рисунок 3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254" y="3574833"/>
            <a:ext cx="2270002" cy="328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375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64" y="5182250"/>
            <a:ext cx="1521695" cy="119907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2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 rot="5400000">
            <a:off x="10418636" y="1727646"/>
            <a:ext cx="3501008" cy="45719"/>
            <a:chOff x="0" y="616563"/>
            <a:chExt cx="2624903" cy="248953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16563"/>
              <a:ext cx="1294463" cy="248953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16563"/>
              <a:ext cx="1294463" cy="248953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16563"/>
              <a:ext cx="1294463" cy="248953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16563"/>
              <a:ext cx="1294463" cy="248953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16563"/>
              <a:ext cx="1294463" cy="248953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</p:grp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z="1400" smtClean="0">
                <a:solidFill>
                  <a:srgbClr val="1342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ru-RU" sz="1400" dirty="0">
              <a:solidFill>
                <a:srgbClr val="13427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7" name="Рисунок 7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747" y="1581475"/>
            <a:ext cx="2395212" cy="3986715"/>
          </a:xfrm>
          <a:prstGeom prst="rect">
            <a:avLst/>
          </a:prstGeom>
        </p:spPr>
      </p:pic>
      <p:pic>
        <p:nvPicPr>
          <p:cNvPr id="144" name="Рисунок 14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70" y="488696"/>
            <a:ext cx="4446752" cy="5388576"/>
          </a:xfrm>
          <a:prstGeom prst="rect">
            <a:avLst/>
          </a:prstGeom>
        </p:spPr>
      </p:pic>
      <p:sp>
        <p:nvSpPr>
          <p:cNvPr id="39" name="bg object 46"/>
          <p:cNvSpPr/>
          <p:nvPr/>
        </p:nvSpPr>
        <p:spPr>
          <a:xfrm>
            <a:off x="0" y="1"/>
            <a:ext cx="12192000" cy="825052"/>
          </a:xfrm>
          <a:custGeom>
            <a:avLst/>
            <a:gdLst/>
            <a:ahLst/>
            <a:cxnLst/>
            <a:rect l="l" t="t" r="r" b="b"/>
            <a:pathLst>
              <a:path w="20104100" h="1341120">
                <a:moveTo>
                  <a:pt x="20104099" y="0"/>
                </a:moveTo>
                <a:lnTo>
                  <a:pt x="0" y="0"/>
                </a:lnTo>
                <a:lnTo>
                  <a:pt x="0" y="1340608"/>
                </a:lnTo>
                <a:lnTo>
                  <a:pt x="20104099" y="1340608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46AF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pic>
        <p:nvPicPr>
          <p:cNvPr id="40" name="Рисунок 3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608" y="7429"/>
            <a:ext cx="1595680" cy="90772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2A6FFE1B-8AF4-61BB-55F6-179DEE6888D7}"/>
              </a:ext>
            </a:extLst>
          </p:cNvPr>
          <p:cNvSpPr txBox="1"/>
          <p:nvPr/>
        </p:nvSpPr>
        <p:spPr bwMode="auto">
          <a:xfrm>
            <a:off x="426728" y="260900"/>
            <a:ext cx="854959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ru-RU"/>
            </a:defPPr>
            <a:lvl1pPr>
              <a:defRPr sz="2133" b="1">
                <a:solidFill>
                  <a:srgbClr val="3B74AF"/>
                </a:solidFill>
                <a:latin typeface="DIN Pro Bold" panose="020B0604020202020204" charset="0"/>
                <a:ea typeface="Tahoma"/>
                <a:cs typeface="DIN Pro Bold" panose="020B0604020202020204" charset="0"/>
              </a:defRPr>
            </a:lvl1pPr>
          </a:lstStyle>
          <a:p>
            <a:r>
              <a:rPr lang="ru-RU" sz="24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ПЕРСПЕКТИВЫ РАЗВИТИЯ ПРОЕКТА</a:t>
            </a:r>
            <a:endParaRPr lang="ru-RU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6105634" y="2513021"/>
            <a:ext cx="48572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34" name="Picture 9"/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8519" y="1378633"/>
            <a:ext cx="1896533" cy="925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5" name="Схема 44"/>
          <p:cNvGraphicFramePr/>
          <p:nvPr>
            <p:extLst>
              <p:ext uri="{D42A27DB-BD31-4B8C-83A1-F6EECF244321}">
                <p14:modId xmlns:p14="http://schemas.microsoft.com/office/powerpoint/2010/main" val="3943961272"/>
              </p:ext>
            </p:extLst>
          </p:nvPr>
        </p:nvGraphicFramePr>
        <p:xfrm>
          <a:off x="-14070" y="969321"/>
          <a:ext cx="11811748" cy="5774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923014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10"/>
          <p:cNvSpPr/>
          <p:nvPr/>
        </p:nvSpPr>
        <p:spPr>
          <a:xfrm>
            <a:off x="0" y="-1"/>
            <a:ext cx="8649058" cy="980729"/>
          </a:xfrm>
          <a:prstGeom prst="rect">
            <a:avLst/>
          </a:prstGeom>
          <a:solidFill>
            <a:srgbClr val="FD493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8" name="Прямоугольник 7"/>
          <p:cNvSpPr/>
          <p:nvPr/>
        </p:nvSpPr>
        <p:spPr>
          <a:xfrm>
            <a:off x="3467198" y="980728"/>
            <a:ext cx="7200800" cy="5877272"/>
          </a:xfrm>
          <a:prstGeom prst="rect">
            <a:avLst/>
          </a:prstGeom>
          <a:solidFill>
            <a:srgbClr val="B5D8E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F00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0" name="Квадрат"/>
          <p:cNvSpPr/>
          <p:nvPr/>
        </p:nvSpPr>
        <p:spPr>
          <a:xfrm>
            <a:off x="8347802" y="1726073"/>
            <a:ext cx="3868878" cy="5170773"/>
          </a:xfrm>
          <a:prstGeom prst="rect">
            <a:avLst/>
          </a:prstGeom>
          <a:solidFill>
            <a:srgbClr val="8F00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18171" y="1769850"/>
            <a:ext cx="379059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Почта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artyr123456789kazakov@gmail.com</a:t>
            </a:r>
            <a:endParaRPr lang="ru-RU" sz="1400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Телефон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89</a:t>
            </a:r>
            <a:r>
              <a:rPr lang="ru-RU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869126041</a:t>
            </a:r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AutoShape 2" descr="data:image/png;base64,iVBORw0KGgoAAAANSUhEUgAAB9AAAAfQCAYAAACaOMR5AAAACXBIWXMAAA7EAAAOxAGVKw4bAAAgAElEQVR4nOzbi23EIBBAwUd0/be8aSGfu5CDmQrWsgFLT6yZmQAAAAAAAADgch+7BwAAAAAAAACA/0BABwAAAAAAAIA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6rF7AOD11lq7RwCAZmb3CH/K+Qvvy37FSW77njmb/QqA/8D/FZzPDXQAAAAAAAAASE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KoeuwcAeLaZ2T0CwJestXaPwAs5jzjJbfvVbc97G/vz2W5bv77ns3m/wLu47fwFzucGOgAAAAAAAAAk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VY/dAwDwO2ut3SPA08zM7hGAH7rtPLJfne2293vb+r3teQHehf2Zk9z2PwlwGjfQAQAAAAAAACA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CqeuweAAAAeH8zs3uEP7XW2j0CPM1t6/c29isAAIDvcQMdAAAAAAAAA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gE/27q3HrvMgwPC77XGaJk6apKGpKEICUSpVoojSIuAOccm/4Q80bgMUUBWhluaCwyUSdxAUUQQqUAGC4kPi1Kl7iLBzaJrE8XHG9hwXN0FJaDx2kpnZe6/1PHeRljPf9lrft5bn1bc2UAnoAAAAAAAAAFAJ6AAAAAAAAABQCegAAAAAAAAAUAnoAAAAAAAAAFAJ6AAAAAAAAABQCegAAAAAAAAAUAnoAAAAAAAAAFAJ6AAAAAAAAABQCegAAAAAAAAAUNXKvAcAAAAAi2Q2m817COyjYRjmPYQDNbXPa/4CAAAflB3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BVrcx7AAB8MMMwzHsIANBsNpv3EA7U1O6/zu+4Te38Tu3zTu16ntrnhTExfwGARWEHOgAAAAAAAAAk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VSvzHgDAXpvNZvMeAgBM7n40DMO8h3CgnN9xc37HbWrnd2qmdn6nNn+nZmrXMwDAorADHQAAAAAAAA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qtkwDMO8BwEAAGMzm83mPQT2kX9GjZv5O25Tm79Tu56ndn4BAIC9Zwc6AAAAAAAAACS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BVK/MeALD/ZrPZvIfAPhqGYd5DOFCu53FzPY/b1M7v1D7v1K5nGBPrFbAspjZ/p7Y+A8vL+gyMjR3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fU0NmIAACAASURBVIAOAAAAAAAAAJWADgAAAAAAAACVgA4AAAAAAAAAlYAOAAAAAAAAAJWADgAAAAAAAACVgA4AAAAAAAAAlYAOAAAAAAAAAJWADgAAAAAAAACVgA4AAAAAAAAAlYAOAAAAAAAAAJWADgAAAAAAAACVgA4AAAAAAAAAlYAOAAAAAAAAAJWADgAAAAAAAABVrcx7AMD+G4Zh3kMA3qepzd/ZbDbvIRyoqZ1fxm1q17P1atym9nkBloX1edym9nwFY2J9BsbGDnQAAAAAAAAASE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KpW5j0AYP/NZrN5DwH2zDAM8x7CgZra/HV+gWUxtfUKxmRq83dqzxtT+7xTu56B5WW9Gjf3X2Bs7EAHAAAAAAAAg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amXeAwAAAABYFkP16vWdXl7b7rUbO71+c6fzq9td3djpULOGhn7+/pV+4f7Dffyew/3iA4e769Bs3sMGAADgDgnoAAAAALewM9TzV7f67qWt/vr5m528sHkHf2r9Hf/1Sw+t9LufOdqvP3JkfwYJAADAnpkNwzDMexDA/prN7HZgPKZ225ra/HV+gWUxtfUKpmZ1c+i/XtvoL87e6NQdBfM788iHD/WFz93Xb/30XXv2/7wdzxvj5n7EmFivxs16NW5Tm7+uZxg/AR0mYGoPMIzb1G5bU5u/zi+wLKa2XsEUXN7Y6d9e2ezPz17ve5e33uOf/v9rwu73+E9+ZKUvfO5ov/rw/u9I97wxbu5HjIn1atysV+M2tfnreobxE9BhAqb2AMO4Te22NbX56/wCy2Jq6xWM1ZWNoX99Zb0/++6NfnjlTqL5+537P3nP/8S9h/vS54/2G4/s7250zxvj5n7EmFivxs16NW5Tm7+uZxg/AR0mYGoPMIzb1G5bU5u/zi+wLKa2XsGYrG4O/cerG33tO9f7wW2j+V7P9Xfe+3/m3sN95Tfv7zMPrezxz3nbT/S8MWruR4yJ9WrcrFfjNrX563qG8RPQYQKm9gDDuE3ttjW1+ev8AstiausVLLudob792kZffnrtDl7PfhDz+61ngE8/uNLv/9p9feqB/YnonjfGzf2IMbFejZv1atymNn9dzzB+AjpMwNQeYBi3qd22pjZ/nV9gWUxtvYJldfbyVl88sdqpC5u3OXIec/qt54BfefhIf/XbD+zPT/G8MWruR4yJ9WrcrFfjNrX563qG8du/d4QBAAAAHLArG0PfeHG9J86s9eqNnV2OXJxffJ66sNnOUIem9btnAACAhSSgAwAAAEvvP1/d6LGTqz1/dfs2Ry5KOB96+y70127s9PF7Ds1vOAAAAFQCOgAAALCk/ufadt98eb0nzlxvbWu3ML4o0fzWTlzY7Hd+9kPzHgYAAMDkCegAAADA0hiqv39hva9+Z61z13bbbb740fztu9D/8ux1AR0AAGABCOgAAADAwvv+la2OHV/t5IXN2xy5DOH8Jz13aaub20N3H/ZF6AAAAPMkoAMAAAALaXuop1642dfPXO/80u82v721TQEdAABg3gR0AAAAYKGcvbzVo8dXe+aN3XabjyOav921zaGP3j3vUQAAAEybgA4AAADM3eZO/cOL633tzNokdpu/m7Wt8X42AACAZSGgAwAAAHPz3KWtjh2/1umLW7scNY2wfHVjZ95DAAAAmDwBHRidYZjGL9f+z2zmOxLHzPU8bs7vuE3t/AK8Fxs7Q//00kZ/8uxaL6xOc7f5u3lpbe8D+tTuR1N73pja53U9j5vzO25T+7wALDcBHQAAADgQZ97cbf6s3eYAAAAsKAEdAAAA2DebO/UvP1rvj59Z60W7zQEAAFhwAjoAAACw53y3+Xu3468DAABg7gR0AAAAYM9865WNHju5arf5+3D/Ed8PCwAAMG8COgAAAPCBXFzf6e/Orff159a6unGrOC6a384njh6e9xAAAAAmT0AHAAAA3pf/fn2zL59a7blLXtO+F+7RzwEAAOZOQAcAAADu2I2tob85d7M/PXO9N27u3OIo0fz9OHrk0LyHAAAAMHkCOgAAAHBbpy9u9XsnrnX6ot3m++Ve34EOAAAwdwI6AAAA8K62h/rmy+v9wanVXrl+q93mJZzvDRvQAQAA5k9ABwAAAN7he5e3OnZitVMXNnc5SjTfS59+cKW7D9uBDgAAMG8COgAAAFDVv/94oy+dXO38te1djhLO98NnHz4y7yEAAACQgA4AAACTdnVj6MnzN3vizPUurt/qNe2i+f54a8f5T33Y+9sBAAAWgYAOAAAAE3Ti9c0ePbHaD69s7XKUcH5Q7l3x+nYAAIBFIKADAADARGwP9bfnbvb46bUu3LTbfJH83H2H5z0EAAAAEtABAABg9L5/Zatjx1c7eWFzl6OE83n6mFe4AwAALAQBHQAAAEbqH19a7yun1zp/bXuXo4TzRXDfXQI6AADAIhDQAQAAYEQub+z05Ln1Hj+91s3tW8Vx0XzR3OM70AEAABaCgA4AAAAjcOLCZseOr/aDK1u7HCWcL6qjRwR0AACARSCgAwAAwJLaHuqpF2721Wev99LarV7TLpovus8+fCT5HAAAYDEI6AAAALBkzl7e6tHjqz3zxuYuRwnny+LzHzsy7yEAAADwJgEdAAAAlsS3X9vssZNe0z4Ob+05f+hDh+Y4DgAAAN5OQAcAAIAFdnN76Knz6/3h06td27xVHBfNl9knP3J43kMAAADgTQI6AAAALKBnL2517Pi1zlyy23zsHrQDHQAAYGEI6AAAALBAvvXKRn/09GrPX93e5SjhfEweuEtABwAAWBQCOgAAAMzZpfWdvvHieo+fXvOa9gk6emR2+4MAAAA4EAI6AAAAzMnpN1/T/pzXtE/Wpx5YEdABAAAWiIAOAAAAB+yff7TRF09c68fXd25xhGg+Fb/8Ub+aAQAAWCT+lQYAAAAH4PLGTk+eW/9f9u48SI+7sPPwd26NNKc0tmzLV3zKBluyJAgYsAGZK1lIKlmqNrW5s6kKtWzYsAkkIRtpIBdsDkjMFVgCCQmQrQo5lkqF3YQUgeDAjC3Lt40xGIMtLMmS5h0dM6OZ/UN459Ktmbfft/t5/vM7r2d+ervffrv78/66c/u9LtPOrMEu9z8HAABoJAI6AAAALKN7905leHQs9+51mXaeNXvJ9otWthU4DgAAABYS0AEAAGCJzST53Lcm8o47Xaadk7uyX0AHAABoJAI6AAAALJGH909leKSWO3dPnuRZwjmzBjtdwh0AAKCRCOgAAABwju57ZirDI2O5x2XaOUP9nS2nfhIAAAB1I6ADAADAWTg6k3z+yYm8Y3QsT7pMO2fhst62rFlhBjoAAEAjEdABAADgDDy479hl2nfscZl2zs0Nq52WAQAAaDSO1AAAAOA0uEw7S211l9nnAAAAjUZABwAAgBOYnkm+8NRE3jFayxPjR0/wLNGcMzF7z/Mr+5yWAQAAaDSO1AAAAGCBh/ZNZXi0lrt2u0w7y+fSHjPQAQAAGo2ADgAAAN/1wDNT2T5ay073N6cOVq8Q0AEAABqNgA4AAEDlffGpiQyP1vLNmsu0Uz+r2ltO/SQAAADqSkAHAACgkg4fncmnHzuc9953MHsOT5/gWcL50ns2GnttL1jZVvQQAAAAWEBABwAAoFLc37wIx5tp3ZIqv84b1nSkzQR0AACAhiOgAwAAUAl37JrI9tFavjHmMu31c6pCXN2Ift2AUzIAAACNyNEaAAAApTU1nfzN1w/nPfeO5+lDLtNeX4vj+Y9e3Z1rBtrzZw8fyiP7pwoYU9FmX5Mr+ly+HQAAoBEJ6AAAAJSOy7QXaXE4f85ge7Zt6c0Nq4+dhvhfjx6q96AazlX9AjoAAEAjEtABAAAoja88PZnhkbE8euBEl2lPhPPlND+en9/dmm2be/PydZ3//7GPP3Io9+yt4uzz+Qa7WoseAgAAAMchoAMAAND0Pv3Y4bz7nvF8x2XaC7J41vmbb1yVn71u5bzHPvftifzmnbV6DaqhXbjSDHQAAIBGJKADAADQlL5ZO5rPPnEkv3v3+EmeJZwvr8Xh/Mq+tmzb0pvnndcx7/Ev7ZrIW+44sODZ1V0+fZ2LXzsAAACKJ6ADAADQVEaensx2l2lvAIsD8Ns29eRHr+5e9PiXvzOZX/tKLbXJuculusto01DHcV49AAAAGoGADgAAQFP4zONH8u6d43li/EThvLpBtr4Wp9/nDLZn25be3LB68WmG0d2TGR4dy7fnLbdqL6sNa5yOAQAAaFSO2AAAAGhY+ydm8unHDuf3dtYydaLbm1c8xtbX/Hg+0NmabVt68upLuo777Lt2T2Z4pJavHRDP57526wecjgEAAGhUjtgAAABoOHftnszwaC0P7Zs6ybOqGmKLsHjW+YY1Hdm+peeEMfjZZfjI/rnL0DJLkvO724oeAgAAACcgoAMAANAwPvvEkfze3eN5vOYy7Y1jfjwfWtGa7Vt6snXd8WedJ8mOPcf7AoRl96zBLndABwAAaFQCOgAAAIXaNzGdv3/8SN61YzyHj54osoqv9bc48m4a6si2LT25pv/EpxPuf2YqwyPi+clc0mMGOgAAQKMS0AEAACjEzj2T2T5aywPPuEx745kfzy9Y2Zrtm3tz60Wdp/w/h0fG8qB4flLd7WagAwAANCoBHQAAgLr64lMT+e27ann0gMu0N57FYfdNN6zKz12/8rT+7zd+4UB27hXPT2bTUMdxXmUAAAAahYAOAADAsjt8dCaf+caRvHNHLWOTLtPemOZn3YtXtWXblp68+IJTzzpPjsXzf/zWkTmPWJ6zZl/bm0/z9QQAAKAYAjoAAADLZufeqQyPjOV+l2lvYIvnQ/+3G1flP113erPO79o9meFR9zw/XVf1uf85AABAIxPQAQAAWHJf2jWR375rPI/sP1E4F1gbw/x4fllvW7Zv7skL1p7eLGnx/MytWdFa9BAAAAA4CQEdAACAJfO33zicd941nr1Hpk/wDHG1MSyedf6WjT35qWu7T/s3iOdn59IeM9ABAAAamYAOFTAz4yRWmVm+lEnV1ueWlsXxgvKwfMutaturU9l1aDp/8/XDuf3e8UyeqJsLqw1k/vbpir62bNvcm+ef33Hav+HO3ZMZHqnl4f3i+Zka7KrvDHSfR+VWtc+jqq3PVVu+VWP5UiZV2z4D5SegAwAAcFZ27DkWUR/c5zLtzWHxic1f3tiTnziDWeeJeH4ublzdng5XcAcAAGhoAjoAAABn5LNPHMlv3FnL04dcpr15zI/nV/a1ZfuW3mw57/RnnSfJ6Hfj+SPi+Vm5fvDMXm8AAADqT0AHAADglPZNTOfTjx3J7feO5+DUiYKpkNp4Fs86f+vGnvzkGc46T5KRpyezfWQsjx44OudRy/zUZpfB+kGnYQAAABqdIzcAAABO6L5npjI8MpZ79p7oMu2JiNqo5sfzq/rbs31zTzaf4azzJPnydyYzPDqWr4nn5+T8btdvBwAAaHQCOgAAAIt8/smJvGtHbcFs47nE08a1eNb5Wzb25KfOYtZ5ktyxazL//StjeWJcPD9Xl6wS0AEAABqdgA4AAECSZHxqJv/wzSN5545aDky4THtzmh/Pr+5vz7YtPdk8dHb33v7Sron8yr+NZde8+91bB87Whavaih4CAAAApyCgAwAAVNz9371M+06XaW9iSzvrPEm+8NRE3nLHWJ45Ip4vle62xcsJAACAxiKgAwAAVNS/fWcywyNjeWzMZdqb2/woe2VfW7Zt6c3zzuJe58/6/JMTefO/Hsj41Nx1wPpwLm4a6kirfg4AANDwBHQAAIAKOTqT/P3jR/Kuu2t5et5luecSSpvD4hr7SxtW5afXrzyn3/rP357Im754IBPT4vm5m11GL7+os8BxAAAAcLoEdAAAgAp4cN9Uto/UcveeyZM8SyRtHvPj+ff0Hpt1/r3nn/2s8yT5x28dyRu/cGDBo9aLpeD+5wAAAM1BQAcAACixHXsm8xujtdz3jPubl8PiWee/uGFVfuYcZ50nyccfOZTfvLO24FHrxlK5YGVr0UMAAADgNAjoAAAAJTOT5J++dSS/cWctTx10mfbymB/PL+9ty7bNvXnB2nObdZ4kH3voUH5nh3i+nC7vMQMdAACgGQjoAAAAJfHw/qkMj9Ry526XaS+XxbPO37qxJz95bfeS/PYPPXAwv79zfMGj1pOl1tu5eDkCAADQeAR0AACAJvfgvmPhfIf7m5fQ/Oh6WW9btm/uyQvWdi7Jb3/ffQfzR/eK5/XQ0SqgAwAANAMBHQAAoEl98amJDI/W8s3a0RM8QwhtXotj6y9v7MlPLNGs8yR5zz3j+cD9Bxc8ap1ZDpuGOo6zRAEAAGhEAjoAAEATqU3O5O++cTjvve9g9hx2f/Nymp9aL+1py/YtPXnhEs06T5J37ajlTx46tOBR683Sml2Or7t8RYHjAAAA4EwI6AAAAE3ggWemsn20lp0u015ii+co/8pNPfnxa5Zu1nmSvH20lk98VTyvp/O7W4seAgAAAKdJQAcAAGhgd+yayPbRWr4x5jLt5ba89zp/1tu+PJa/euzwgketQ8vt6v62oocAAADAaRLQAQAAGtC/fvf+5o+7v3nJLf+9zpPk7j2T2T5Sy4P7phb8xHpUD4NdZqADAAA0CwEdAACggZhxXiXz4/nlvW3Ztrk3L1jbsaR/ZceeyQyL54Va0bb4ixIAAAA0JgEdAACgATy4byrDI7XsOOE9zsXO8lgcU9+6sSc/ucSzzpPkrt2TGR6t5aF58dy6VE8b1nREPwcAAGgeAjoAAEDB/vrrhzM8Usvho8cLm2JnucwvqVf0HZt1/vzzl3bWeZKM7j428/yR/eJ5/c0u5++7tKvAcQAAAHCmBHQAAICCPLRvKsOjtdy1+3izzoXOclk8BfmXNqzKT69fuSx/7cvfmcx//8pYHq/NvRWAdaoI7n8OAADQXAR0AACAAnzxqYkMj9byzdrCe52LnOVTv1nnSfKlXRN567+N5elD03MetV4V5bqBtqKHAAAAwBkQ0AEAAOrsX56cyK+PjOWpg9MLfiJylsviWedvvnFVfva65Zl1nhxbt978pQOpTc5dl6xXRTqvW0AHAABoJgI6AABAHT343cu2z4/nAmf51HfWeZJ8+rHD2TYylsl538uwbhVthX4OAADQVAR0AACAOto+Usu3xt2XurwWzzr/+RtW5Q3XL9+s8yT5i0cO5R131hY8at0q2nNXt6erbfE6AQAAQOMS0AEAAOrkc9+eyN17Juc8InCWy/xQennvsVnnL1i7fLPOk+SjDx3KO3eI541jdj3Yuq6rwHEAAABwNgR0AACAOhkeGSt6CCyLxTOM//NzVuaNz1217H/5g/cfzLvvGV/wqHjeKC5Y2Vr0EAAAADhDAjoAAEAdPLx/KrsOue95+cyP55f2tGX7lp68cG3nsv/lP7xnPO+//+CCR61XjeS6AaddAAAAmo0jOQAAgDoYfXry1E+iiSyedf5z16/Mm25Y/lnnSfLOHbV89KFDCx4VzxvNmhVmoAMAADQbAR0AAKAOduyemvNfQmdzmx/Pz+9uzbbNvXn5uuWfdZ4kbx+t5RNfFc+bQU/H4i9aAAAA0NgEdAAAgDo4OiNwNr/FMfTGNR3Zvrkn1w0u/+H1vXunMjw6lnv3Ti34iXWrEV0/2J4VbQI6AABAsxHQAQAA6mDtyraih8A5KXbW+c69UxkeGcv9z4jnzeKlF9Vn3QAAAGBpuRkXAABAHWwamvv9ZbNSm0dLFi6vjWs68sFb+usWz+/eM5ltX1kYz2cinjei2XXlsh5fmgEAAGhGZqADAADUwaahjqKHwBmbH87P627Nts092bquq24jGN09meGRWh7ZvzCe0+iu7nfKBQAAoBmZgQ4AAFAHg12tuaJv7oxUs9Ab1+JZ55uGOvLhW/vrGs+/8vRkfvmOMfG8SQ12OeUCAADQjBzNAQAA1Mm2zb0LHhHRG8/8ZTLY1Zp339yXP986kGvqOKP4jl0T+YV/PZAnxo/OeVQ8byaDXd7fAAAAzUhABwAAqJPnn9+RN9+4asGjIltjWDzr/KahjvzJS/vzqkvqN+s8Sf7664fzhn85kD2Hp+c8Kp43k+eubk9Xm/c2AABAM3JDLgAAgDr62etW5pkj0/mThw7NebQlAmmR5ofO3o6WbN/Sm++7tL7hPEn+8tHD2TYytuBR60azecHazqKHAAAAwFkS0AEAAOrsLRt70tvRmj+8d3zOo89GXLG0fhbPEL5pqCPbNvfk2oH6Hy5//JFD+c07awsetT40j9n16YJuF/wDAABoVgI6AABAAd7wnJW5ZqAtw6O1PH1o7qW6hfT6mB/PV7W3ZNuW3rz2svrPOk+Sjzx4MP/j7vEFj1oHmtUNazqKHgIAAABnyVeiAQAACrJ1XVc+/7o1+a3n9x7nfsktOd59uTlXi1/TDWs68vGtA4XF8/ffJ56XzZou71sAAIBm1TIzM+OoHACgAC0tTq5Ds1quw6hPPXo479xRy6Gpk/1+h3Bnb/52d0VbS7Zv6ckPXL6ioPEkf7BzPH/8wMEFj1rGzWl2/fryDw2lt6MxPuftb5Rb1U7rVW19rtryBZqX7TNQNgI6AEBBqnaACWWy3IdRn33iSN5zz3i+duDoqUayrOMol/nb3BtXt2fblt5cP1jcnc1++65a/vThQwsetUyb17F17Or+9vztqwcLHsss+xvlVrXTelVbn6u2fIHmZfsMlI17oAMAADSYV17clVde3JWH909leKSWO3dPnuCZc09UOYlzfPNP5rW1JNu29Ob1VxQ36/z+Z6YyPDKWnXunFvzEMiyDmy9w/3MAAIBmJqADAAA0qGv62/PnWwcyk+ShfVN5x6iYfmbmx/P1A+3ZvqUnG9YUFzjF87KaXde+p9epFgAAgGbmEu4AAAWp2iXOoEyKPIx6NqZ/7tsT+ehDB3Ng4lRjqeIh3+Lt669v7smPXNVdwFhmiedlNrvO/eUrBnPD6saJ6PY3yq1qp/Wqtj5XbfkCzcv2GSgbAR0AoCBVO8CEMmmkw6iv7p/KHd+ZzMceOpQnxqt+z/TF29X1A+3ZtqUnGwucdZ6cKJ6XfXlUyey69w/fvzqX9rQVOJb57G+UWyN9HtVD1dbnqi1foHnZPgNlI6ADABSkageYUCaNehi169B0/uXJiXzogYN5vHaqmJ6UK+Au3qb+2qae/Meri511nojn1TC7/t35w0Ppbm+cz3j7G+XWqJ9Hy6Vq63PVli/QvGyfgbIR0AEAClK1A0wok2Y4jNp9eDpf2jWZ9983nsfGyhzTF29Lrxtsz/bNPbmx4FnnSXLfd+P5PeJ5yR1bD68bbM9fvXKw4LHMZ3+j3Jrh82gpVW19rtryBZqX7TNQNo1zUy4AAACWzNCK1rz2sq689rKu7D0ynXv2TOX2+8Zz76L7bz9r4UmvRj8ptPgk3WBXa7Zt7smrLukqYDyLiefVs2mo+C9tAAAAcG4EdAAAgJJb3dWaWy/qzK0XdebI0Zncu3cq77p7PDv3TJ7k/5obqBsp+h5/dssvbViVn16/ss5jObF7905leHRswRcWGul1ZOnMrpPXDzrNAgAA0Oxcwh0AoCBVu8QZlElZDqOmppMnDx7N6O7JfPiBg3n0wOlc6j0pJgQfrj4rkQAAIABJREFUf5t5w+r2bNvSm+c0ULgUz6tmdt385G0D2dAAtw6Yy/5GuZXl8+h0VW19rtryBZqX7TNQNo1zhgEAAIC6am9NLulpyyU9bfnBy1dk38R0Htl/NL+7o5adJ7zUe3L8mL0cJ5FOfCKuEcN5Ip5XXV9na9FDAAAA4ByZgQ4AUJCqfUMbyqQKh1GT08neI9O58+nJfPShg6cI6idyJq/TqbeJvR0t+YUbV+X7L12Rvs7G24bes/fYPc/ve0Y8r5bZdfHu1w+ls7Wx1k37G+VWhc+juaq2Pldt+QLNy/YZKBsBHQCgIFU7wIQyqeJh1OR08tTBo9m5dyoff/hQdpz0/ulL6/rB9rzphlW55cLOuv3NMyWeV9mxz/MbVrfnL18xWPBYFrO/UW5V+zyq2vpcteULNC/bZ6BsGutadwAAADSkjjmXe//+S7tydCbZd2Q6D+ybytcOHM1nHj+SnUsY1Tes6ch/ee7KbD6vIyvaGvuE3L3iOUluvqBxv+ABAADA6TMDHQCgIFX7hjaUicOo45uaTvYcmc6j+6ey69B0vj52NA/vn8ruw9ML7gk+6/rB9qxb1ZbnDLbnyr62XDvQnotWtaXBm/k8r/8/z7jneWXNrqjvvrkvr7qkq8CxHJ/9jXKr2udR1dbnqi1foHnZPgNlYwY6VIAdGMqkausz5Va17VXV3r9VW76QJO2tydru1qztXjwT98jRmUxOJ0dnktaWY9mxvTUNP7v8VN5zz7h4TpLk/O7WoocApWf/qtwcL1Am1meA5iagAwAAsOy62lrS1Vb0KJbWnz18KB+4/2DRw6BBXLyqZCs4AABARfl6NAAAAJyhO3ZN5rfuqi141MybKhsyAx0AAKAUHN0BAADAGXh4/1SGR8cWPCqeV9mmoY5U60KtAAAA5SWgAwAAwBkYHqnl62NH5zwinlfTbDK/+YLOAscBAADAUhLQAQAA4DQ9uG8qd+6enPOIeE5ydb/7nwMAAJSFgA4AAACnaXhk4X3PITlvhdMrAAAAZeEIDwAAAE7D0Zlkxx6zz1nssl4z0AEAAMpCQAcAAIDT8LlvHSl6CDSogU6nVwAAAMrCER4AAACcho88dGjOf5l9zjE3DXWktaXoUQAAALBUBHQAAAA4hemZ5K7dk6d+IhUxW8y3russcBwAAAAsNQEdAAAATuHglBnnHN9lPe5/DgAAUCYCOgAAAJzC1IyAzvENdTu1AgAAUCaO8gAAAOAUOtzkmhO4sq+96CEAAACwhAR0AAAAOIWV7QI6x9fTYd0AAAAoEwEdAAAATqElyaahjqKHQYPZNNQR+RwAAKBcBHQAAAA4DW987so5/yWbVtfssv93l3UVOA4AAACWg4AOAAAAp+GFazvT7VLuzLG2u63oIQAAALDEBHQAAAA4TW+7qWfOf4npVXdVv4AOAABQNgI6AAAAnKYfvmJFBrvmHkqL6FV23gqnVQAAAMrGkR4AAACcgW2be079JCphhUv6AwAAlI6ADgAAAGfgVZd0ZeOajjmPiKhVtGmow5IHAAAoIQEdAAAAztC2LT3ZIKJX0Oxy/sHvWVHgOAAAAFguAjoAAACcofUD7dm+pSc3iuiVtbbbKRUAAIAycrQHAAAAZ2H9QHu2bz5eRBfSq+Ca/vaihwAAAMAyENABAADgLF032J7hLT0L7omeiOjlN9BlGQMAAJSRgA4AAADnYP1Aez5x20B++IqF98QWWMusq83yBQAAKCMBHQAAAJbAbzyvN2/b1LPgUZd0L4/Z5bhpqMNSBQAAKCkBHQAAAJbIj17dndtf3JehFQsPt+XWMvn3i642AAAAQFkI6AAAALCEtq7ryv98aX82DR3vvuhCehlcO9Be9BAAAABYJgI6AAAALLFr+tvz51sH8vsv7Etf58JoLqI3uwtXOp0CAABQVo74AAAAYJm85tKufOxlA9m4xmz0MlnZbtkBAACUlYAOAAAAy2j9QHs+cdtA3n1zXwa73Bu92T13dXu62iw3AACAshLQAQAAoA5edUlXPvLS/mwwG70JzS6fV1/SVeA4AAAAWG4COgAAANTJ+oH2fPK2gbznRX1ZbTZ6U7qyr73oIQAAALCMBHQAAACos1de3JUP39qfG81GbzpX9LUVPQQAAACWkYAOAAAABbhusD2fum0gf/SivqxZYTZ6sxjodCoFAACgzBz1AQAAQIFuu7grf3xLf25cvfDS4GajN6JVHZYJAABAmQnoAAAAULDrB9vzqVcMmo3e4Dau6UibxQEAAFBqAjoAAAA0CLPRG9Hs6/6aS7sKHAcAAAD1IKADAABAA3l2Nvp7XtSX1V1mozeS5yz6YgMAAABlI6ADAABAA3rlxV350K1mozeSdSvbih4CAAAAy0xABwAAgAb17Gz037+5L/2dC6O5iF5vA11ecwAAgLIT0AEAAKDBveaSrrzvJf25pt9s9KJcP9ieFW1eawAAgLIT0AEAAKAJbBrqyN+8ejBvf15vFndcYXe53XphZ9FDAAAAoA4EdAAAAGgir79iRT76soFc2bfwftwi+tKbfU2vGVg4+x8AAIAyEtABAACgyWw5ryP/+zWr8+ubexb8xCXdl8vViy6fDwAAQBkJ6AAAANCkfuSq7vzpy81Gr4fVXV5TAACAKhDQAQAAoIk977uz0X/1JrPRl8sVfW0Z7HIKBQAAoAoc/QEAAEAJ/Ng13fnYywZyhdnoS+7mtZ1FDwEAAIA6EdABAACgJJ5/fkc+85rVectGs9HP3ezrdWnPwi8lAAAAUFYCOgAAAJTMT13bnfe9pD9ruxce9ovoZ2PDmvaihwAAAECdCOgAAABQQi+7qDP//Lo1ecP1Kxf8xGz0M7VmhdMnAAAAVeEIEAAAAErs529Yldtf3JehRRFYRD9dF6x0CXcAAICqENABAACg5Lau68qHb+3PTUMdC35iNvqpbFjTkTYvEQAAQGUI6AAAAFAB1w605y+2DuQPX9R3nEuSK8Qn8oK1C790AAAAQJkJ6AAAAFAhr7j42Gz0DWvMRj+x2ddh06JZ+wAAAJSZgA4AAAAVs36gPZ+8zWz003HhSqdOAAAAqsRRIAAAAFTUKy7uyodu6c+NZqOf0LpVbUUPAQAAgDoS0AEAAKDCrhtsz6duG8jtL+7Led1mo8+1fqA9K9ur/RoAAABUTXvRAwBYai0tTnBBs5qZmSl6CHVle1VuVVu+VXv/QhltXdeVi1a2ZftoLTv3TM75ybPbs+q9z7eu6yx6CHBS9jegeVXt/Uu5VW199nkE5WcGOgAAAJBkdjb6e1/cn/MrOxt99t+5+byFl7YHAACg7AR0AAAAYJ6Xr+vMB2/pz4aK3xv9ij4X7gMAAKgaAR0AAABYZP1Aez5520De/5L+XLCyerPRL17VlrWLZuEDAABQdo4EAQAAgBN66UWd+cBL+nPTUBVmo8/+e/7DVSsKHAcAAABFEdABAACAk7p2oD1/sXUgH7ylPxdWZDb688/vLHoIAAAAFEBABwAAAE7LLRd25p9euyY/s37lgp+Ubzb69YPufw4AAFBFAjoAAABwRn5xw6q87yX9x7lHeDNH9Nmxb1jTkbZm/qcAAABw1gR0AAAA4Iy97KLOfO51a/Jj13Qv+Enzz0b/1ZtWFT0EAAAACiKgAwAAAGelJcmv3tSTd9/cl8GucsxG7+1oyY1rOooeBgAAAAUR0AEAAIBz8qpLuvLeF/fl2oGF9w1vlog+O87/eoPZ5wAAAFXWMjMzM1P0IIDl1dLSLCetgKqr2m6J7TNlUrX3L3Bin/jqobx9tHacnzTydmL2M/nLPzSU3o7yfEbb36BM7G+Um+0V0Cx8HkH5mYEOAAAALJkfuao7H7ylPxeubJZLus+O67rB9lLFcwAAAM6cGehQAb7BCzSLqu2W2D5TJlV7/wKn5z33jOcD9x88zk8aaZsx+3n8qdsGSnf/c/sblIn9jXKzvQKahc8jKD8z0AEAAIBl8aYbVuWPXtSXNSsadTb67Dieu7q9dPEcAACAMyegAwAAAMvmtou78pGX9mfT0MI43ZJiQ/rs317R1pJtm3sLHAsAAACNwiXcoQJcAgtoFlXbLbF9pkyq9v4Fzs7ff/NIhkfGsn9i4TajiG3I7Ofw73xvb37g8hUFjGH52d+gTOxvlJvtFdAsfB5B+ZmBDgAAANTFay7pykdfNpCNiy6VXu/Z6LN/68bV7aWN5wAAAJw5M9ChAnyDF2gWVdstsX2mTKr2/gXO3T9/eyLDo2N56uD0cX66nNuU2c/fC1e25vYX9+f6wfZl/HvFsr9BmdjfKDfbK6BZ+DyC8hPQoQIcgADNomq7JbbPlEnV3r/A0vm7bxy7rPv41PG2I0u9bZn97B3sas3vfG9vbrmwc4n/RmOxv0GZ2N8oN9sroFn4PILyE9ChAhyAAM2iarslts+USdXev8DSenDfVLaP1HL3nsmTPOtctjPzP3PXrGjN8JaebF3XdQ6/sznY36BM7G+Um+0V0Cx8HkH5CehQAQ5AgGZRtd0S22fKpGrvX2B5PPDMVLaP1rLzpCH9Wafa7hz/c/aKvrZs29yb55+/8D7s5WR/gzKxv1FutldAs/B5BOUnoEMFOAABmkXVdktsnymTqr1/geU1NZ38328dyR/sHM/jtaNL9nt/5aae/Pg13Uv2+5qB/Q3KxP5GudleAc3C5xGUn4AOFeAABGgWVdstsX2mTKr2/gXq59vjR/OFpybzpw8fzKMHzi6mbxrqyLYtPbmmv32JR9f47G9QJvY3ys32CmgWPo+g/AR0qAAHIECzqNpuie0zZVK19y9QjP0TM/nq/qk8uG8quw5N54na0Tx5cDpjk9NpaWnJzMxMhla0Zt2qtlzR15aNazqy6byOE1zMvRrsb1Am9jfKzfYKaBY+j6D8BHSoAAcgQLOo2m6J7TNlUrX3L0CzsL9BmdjfKDfbK6BZ+DyC8mstegAAAAAAAAAA0AgEdAAAAAAAAACI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EnSXvQAAJbazMxM0UOAJdPS0lL0EOqqav/eqm2vLF+gWdheQfOq2vpcte1V1f69VeP9S5lYnwGamxnoAAAAAAAAABA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JGkvegAAnJuWlpaih1BXMzMzRQ+BZVS15ev9C82rau9fyq1q67PPo3Kr2voMZVK192/VPo+qtnyr9u+t2voMlJ8Z6AAAAAAAAAAQ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CRpL3oAwPKbmZkpeggsI8u33CzfcrN8y62lpaXoIdSV9ZkysT6Xm+1zuVm+0Lyq9v4FABqXGegAAAAAAAAAEA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8P/Yt6MTyWEggIJP4PxT1iVwHws7O5pRV0XQRrJseAgqAR0AAAAAAAAAKgEdAAAAAAAAACoBHQAAAAAAAAAqAR0AAAAAAAAAKgEdAAAAAAAAACoBHQAAAAAAAAAqAR0AAAAAAAAAKgEdAAAAAAAAACoBHQAAAAAAAAAqAR0AAAAAAAAAKgEdAAAAAAAAACoBHQAAAAAAAAAqAR0AAAAAAAAAKgEdAAAAAAAAACoBHQAAAAAAAAAqAR0AAAAAAAAAKgEdAAAAAAAAACoBHQAAAAAAAAAqAR0AAAAAAAAAKgEdAAAAAAAAAKp6Tg8A/L211ukRAKC99+kR3mra83K3afvZ//Pdpu1nuMm089l5xU3s57s5n4HbuIEOAAAAAAAAA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DVc3oAgFfbe58eAeBH1lqnRwD4kWnn1bT/yWnrO+154SbTzmeAb+F8Bm7jBjoAAAAAAAAAJK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FXP6QEA+J211ukR4GX23qdHgJdxPt9t2nllP3MT7y83sb4An8n5fLdp/5MwkRv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BVPacHAAAA4LPtvU+P8FZrrdMj8Ies792cV9xk2n4GAPgUbqADAAAAAAAAQAI6AAAAAAAAAFQCOgAAAAAAAABUAjoAAAAAAAAAVAI6AAAAAAAAAFQCOgAAAAAAAABUAjoAAAAAAAAAVAI6AAAAAAAAAFQCOgAAAAAAAABUAjoAAAAAAAAAVAI6AAAAAAAAAFQCOgAAAAAAAABUAjoAAAAAAAAAVAI6AAAAAAAAAFQCOgAAAAAAAABUAjoAAAAAAAAAVAI6AAAAAAB2ma1rAAAS2ElEQVQ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T1nB4AAAButPc+PcJbrbVOj/BW0553Gu/v3aat7zTT9vM03t+7eX8BgE/hBjoAAAAAAAAAJK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FXP6QEA+J299+kRAPiPtdbpEd5q2vdo2vpOY33he037Hk3jfOYm084r7y8A38QNdAAAAAAAAABI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qp7TAwC82lrr9AgAwOX23qdHeCv/V/C9vL93m/Y9msb63m3a+Ww/323afgbu5wY6AAAAAAAAACS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BVa++9Tw8BAAAAAAAAAKe5gQ4AAAAAAAAA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P/aswMBAAAAAEH7Uy9SGkE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1U2YiWbGMxu7AAAAAElFTkSuQmCC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3467198" y="1723359"/>
            <a:ext cx="1957898" cy="974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3441500" y="1009332"/>
            <a:ext cx="40473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Номер </a:t>
            </a:r>
            <a:r>
              <a:rPr lang="ru-RU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заявки</a:t>
            </a:r>
            <a:r>
              <a:rPr lang="ru-RU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№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СтС-505748</a:t>
            </a:r>
            <a:endParaRPr lang="ru-RU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ru-RU" b="1" dirty="0" smtClean="0">
                <a:solidFill>
                  <a:srgbClr val="0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Казаков Артур </a:t>
            </a:r>
            <a:r>
              <a:rPr lang="ru-RU" b="1" dirty="0" err="1" smtClean="0">
                <a:solidFill>
                  <a:srgbClr val="0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Айратович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Группа 25"/>
          <p:cNvGrpSpPr/>
          <p:nvPr/>
        </p:nvGrpSpPr>
        <p:grpSpPr>
          <a:xfrm>
            <a:off x="6774162" y="0"/>
            <a:ext cx="5436096" cy="1868402"/>
            <a:chOff x="6774162" y="0"/>
            <a:chExt cx="5436096" cy="1868402"/>
          </a:xfrm>
        </p:grpSpPr>
        <p:sp>
          <p:nvSpPr>
            <p:cNvPr id="7" name="Прямоугольник 9"/>
            <p:cNvSpPr/>
            <p:nvPr/>
          </p:nvSpPr>
          <p:spPr>
            <a:xfrm>
              <a:off x="6774162" y="0"/>
              <a:ext cx="5436096" cy="1786574"/>
            </a:xfrm>
            <a:prstGeom prst="rect">
              <a:avLst/>
            </a:prstGeom>
            <a:solidFill>
              <a:srgbClr val="FCAF17"/>
            </a:solidFill>
            <a:ln w="12700">
              <a:miter lim="400000"/>
            </a:ln>
          </p:spPr>
          <p:txBody>
            <a:bodyPr lIns="45718" tIns="45718" rIns="45718" bIns="45718" anchor="ctr"/>
            <a:lstStyle/>
            <a:p>
              <a:pPr algn="ctr">
                <a:defRPr>
                  <a:solidFill>
                    <a:srgbClr val="ADDAE3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  <a:endParaRPr/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7896200" y="692696"/>
              <a:ext cx="3888432" cy="11757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algn="ctr">
                <a:spcBef>
                  <a:spcPct val="20000"/>
                </a:spcBef>
                <a:defRPr/>
              </a:pPr>
              <a:r>
                <a:rPr lang="ru-RU" sz="320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Спасибо </a:t>
              </a:r>
            </a:p>
            <a:p>
              <a:pPr marL="342900" indent="-342900" algn="ctr">
                <a:spcBef>
                  <a:spcPct val="20000"/>
                </a:spcBef>
                <a:defRPr/>
              </a:pPr>
              <a:r>
                <a:rPr lang="ru-RU" sz="320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за внимание!</a:t>
              </a:r>
            </a:p>
          </p:txBody>
        </p:sp>
      </p:grpSp>
      <p:sp>
        <p:nvSpPr>
          <p:cNvPr id="11" name="Прямоугольник 13"/>
          <p:cNvSpPr/>
          <p:nvPr/>
        </p:nvSpPr>
        <p:spPr>
          <a:xfrm>
            <a:off x="1703512" y="5503391"/>
            <a:ext cx="6644290" cy="1352864"/>
          </a:xfrm>
          <a:prstGeom prst="rect">
            <a:avLst/>
          </a:prstGeom>
          <a:solidFill>
            <a:srgbClr val="FBB3C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6" name="Прямоугольник 5"/>
          <p:cNvSpPr/>
          <p:nvPr/>
        </p:nvSpPr>
        <p:spPr>
          <a:xfrm>
            <a:off x="3467198" y="2711615"/>
            <a:ext cx="3384375" cy="3021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3490118" y="2738980"/>
            <a:ext cx="123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Фото проекта</a:t>
            </a: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1668"/>
            <a:ext cx="3300340" cy="3999353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761" y="2204864"/>
            <a:ext cx="1956207" cy="1800488"/>
          </a:xfrm>
          <a:prstGeom prst="rect">
            <a:avLst/>
          </a:prstGeom>
        </p:spPr>
      </p:pic>
      <p:sp>
        <p:nvSpPr>
          <p:cNvPr id="18" name="bg object 46"/>
          <p:cNvSpPr/>
          <p:nvPr/>
        </p:nvSpPr>
        <p:spPr>
          <a:xfrm>
            <a:off x="0" y="1"/>
            <a:ext cx="12192000" cy="825052"/>
          </a:xfrm>
          <a:custGeom>
            <a:avLst/>
            <a:gdLst/>
            <a:ahLst/>
            <a:cxnLst/>
            <a:rect l="l" t="t" r="r" b="b"/>
            <a:pathLst>
              <a:path w="20104100" h="1341120">
                <a:moveTo>
                  <a:pt x="20104099" y="0"/>
                </a:moveTo>
                <a:lnTo>
                  <a:pt x="0" y="0"/>
                </a:lnTo>
                <a:lnTo>
                  <a:pt x="0" y="1340608"/>
                </a:lnTo>
                <a:lnTo>
                  <a:pt x="20104099" y="1340608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46AF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608" y="7429"/>
            <a:ext cx="1595680" cy="907723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64" y="5182250"/>
            <a:ext cx="1521695" cy="119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79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9616</TotalTime>
  <Words>741</Words>
  <Application>Microsoft Office PowerPoint</Application>
  <PresentationFormat>Широкоэкранный</PresentationFormat>
  <Paragraphs>104</Paragraphs>
  <Slides>10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9" baseType="lpstr">
      <vt:lpstr>Arial</vt:lpstr>
      <vt:lpstr>Arial Black</vt:lpstr>
      <vt:lpstr>Calibri</vt:lpstr>
      <vt:lpstr>Helvetica</vt:lpstr>
      <vt:lpstr>Helvetica Neue</vt:lpstr>
      <vt:lpstr>Tahoma</vt:lpstr>
      <vt:lpstr>Times New Roman</vt:lpstr>
      <vt:lpstr>Wingdings</vt:lpstr>
      <vt:lpstr>Тема Office</vt:lpstr>
      <vt:lpstr>Презентация PowerPoint</vt:lpstr>
      <vt:lpstr> </vt:lpstr>
      <vt:lpstr> </vt:lpstr>
      <vt:lpstr> </vt:lpstr>
      <vt:lpstr> </vt:lpstr>
      <vt:lpstr> </vt:lpstr>
      <vt:lpstr> </vt:lpstr>
      <vt:lpstr> </vt:lpstr>
      <vt:lpstr> </vt:lpstr>
      <vt:lpstr>Презентация PowerPoint</vt:lpstr>
    </vt:vector>
  </TitlesOfParts>
  <Company>FASIE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Студенческий  Стартап</dc:title>
  <dc:creator>Позднякова Елена Николаевна</dc:creator>
  <cp:lastModifiedBy>user1</cp:lastModifiedBy>
  <cp:revision>137</cp:revision>
  <cp:lastPrinted>2025-07-04T14:56:25Z</cp:lastPrinted>
  <dcterms:created xsi:type="dcterms:W3CDTF">2023-02-08T09:03:57Z</dcterms:created>
  <dcterms:modified xsi:type="dcterms:W3CDTF">2025-09-18T13:52:10Z</dcterms:modified>
</cp:coreProperties>
</file>